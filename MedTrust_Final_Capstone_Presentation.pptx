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6459200" cy="8458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14996159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Segoe UI"/>
              </a:defRPr>
            </a:pPr>
            <a:r>
              <a:t>CAPSTONE PROJECT • B.TECH COMPUTER ENGINEERING</a:t>
            </a:r>
          </a:p>
          <a:p>
            <a:pPr>
              <a:spcBef>
                <a:spcPts val="2000"/>
              </a:spcBef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MedTrust: A Unified Blockchain Framework for Dual-Layer Verification of Prescription Authenticity and Drug Provenance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Segoe UI"/>
              </a:defRPr>
            </a:pPr>
            <a:r>
              <a:t>Closing the Disjointed Seam in Pharmaceutical Dispensing via Hyperledger Fabric &amp; Atomic Gateway Contracts</a:t>
            </a:r>
          </a:p>
          <a:p>
            <a:pPr>
              <a:spcBef>
                <a:spcPts val="2000"/>
              </a:spcBef>
              <a:defRPr sz="1800">
                <a:solidFill>
                  <a:srgbClr val="0284C7"/>
                </a:solidFill>
              </a:defRPr>
            </a:pPr>
            <a:r>
              <a:t>――――――――――――――――――――――――――――――――――――――――</a:t>
            </a:r>
          </a:p>
          <a:p>
            <a:pPr>
              <a:spcBef>
                <a:spcPts val="1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Team: Abhishek Soni  |  Arin Jain  |  Neelansh Dosi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  <a:latin typeface="Segoe UI"/>
              </a:defRPr>
            </a:pPr>
            <a:r>
              <a:t>Department of Computer Engineering, Mukesh Patel School of Technology Management &amp; Engineering (NMIMS), Indore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Problem Statement: The Dual-Layer Verification Gap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Pharmaceutical dispensing requires simultaneous validity of digital prescription &amp; physical medicine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804672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7315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Structural Seam in Current Healthcare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• Two Independent Claims at Counter: (1) Prescription is authentic, active, and legally signed. (2) Drug unit is authentic, unexpired, recalled-free, and legally in pharmacy custody.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• Disconnected Verification Silos: Electronic Prescribing Systems (EPS) verify physician orders but have zero visibility into physical drug stock. Supply Chain Traceability tracks batches but cannot verify patient-doctor authority.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• Asymmetric Fraud Exploitation: (A) Forged prescriptions filled with genuine medications (opioid diversion / doctor shopping). (B) Legitimate prescriptions fulfilled with counterfeit, expired, or recalled batches.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• Indian Pharma Context: Multi-tiered handoffs (API -&gt; Manufacturer -&gt; C&amp;F -&gt; Wholesaler -&gt; Retailer) lack end-to-end cryptographic custody handoffs, causing grey-market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011680"/>
            <a:ext cx="8046720" cy="7498079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2286000"/>
            <a:ext cx="73152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MedTrust Paradigm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✔ Permissioned Consortium Blockchain: Built on Hyperledger Fabric 2.5 with X.509 MSP identity certificates for licensed Doctors, Manufacturers, Distributors, Pharmacies, and CDSCO.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✔ Dual Smart Contract Architecture: Module 1 enforces ECDSA-signed prescription states (Active -&gt; Fulfilled). Module 2 enforces custody lifecycle (Minted -&gt; In-Transit -&gt; Pharmacy -&gt; Dispensed).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✔ Atomic Gateway Contract: Executes both checks concurrently inside a single atomic commit. If either track fails, ledger state remains unchanged and DRA security alert is broadcast.</a:t>
            </a:r>
          </a:p>
          <a:p>
            <a:pPr>
              <a:spcBef>
                <a:spcPts val="1400"/>
              </a:spcBef>
              <a:defRPr sz="1700">
                <a:solidFill>
                  <a:srgbClr val="0F172A"/>
                </a:solidFill>
              </a:defRPr>
            </a:pPr>
            <a:r>
              <a:t>✔ DPDP Act (2023) Compliance: Zero Patient PII committed on-chain. Uses 128-bit random salting with SHA-256 to guarantee cryptographic unlinkability and prevent re-identification.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Literature Review &amp; Gap Analysis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Systematic evaluation of 20+ recent peer-reviewed architectures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103120"/>
          <a:ext cx="1645920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828800"/>
                <a:gridCol w="1828800"/>
                <a:gridCol w="1828800"/>
                <a:gridCol w="1828800"/>
                <a:gridCol w="4846320"/>
              </a:tblGrid>
              <a:tr h="1018902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System / Reference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Domain /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Prescription Authenticity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Physical Drug Provenance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DPDP/PII Privacy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Structural Gap Addressed by MedTrust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CEUR E-Prescription 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 Prescribing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Ethereum + IPFS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(Signatures)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(Ignored)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Partial (IPFS CID)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gas volatility; no physical package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PharmaChain (Heliyon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Drug Supply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Hyperledger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(Ignored)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(Serial Batch)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 (Supply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Cannot verify doctor authorization at point-of-sale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MedLedger (IJP 2021)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Counterfeit Drugs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Fabric Chaincode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(Batch Track)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PII on-chain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anti-replay prescription mechanism; siloed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Centralized PDMPs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Opioid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State SQL RDBMS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(Centralized)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Risk (Central PII)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 point of failure; vulnerable to internal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BZKP Healthcare (2021)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Patient IoT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Zero-Knowledge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(ZKP)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cryptographic prover overhead; impractical for POS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8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MedTrust (Our Work)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Unified Dispensing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Hyperledger Fabric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(ECDSA + Salt)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Yes (Serial Custody)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Complete (Zero PII)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Unified Atomic Gate: Synchronous dual-layer verification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System Architecture: Unified Dual-Layer Verification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Six consortium stakeholder tiers communicating via Go Chaincode and Atomic Gateway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645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609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CONSORTIUM PARTICIPANT ROLES (MSP Authenticated)</a:t>
            </a:r>
          </a:p>
          <a:p>
            <a:pPr>
              <a:spcBef>
                <a:spcPts val="400"/>
              </a:spcBef>
              <a:defRPr sz="1450">
                <a:solidFill>
                  <a:srgbClr val="0F172A"/>
                </a:solidFill>
              </a:defRPr>
            </a:pPr>
            <a:r>
              <a:t>1. Doctor Portal: Generates 128-bit salt, computes SHA-256 hash, signs via ECDSA secp256r1, issues Patient QR Pass.</a:t>
            </a:r>
            <a:br/>
            <a:r>
              <a:t>2. Manufacturer Node: Mints genesis batch assets with NDC code, plant ID, production timestamp, and shelf-life.</a:t>
            </a:r>
            <a:br/>
            <a:r>
              <a:t>3. Distributor Hub: Validates transit checkpoints and logs cryptographic custody transfers.</a:t>
            </a:r>
            <a:br/>
            <a:r>
              <a:t>4. Pharmacist POS: Dual-barcode scanner captures prescription hash + package barcode for atomic evaluation.</a:t>
            </a:r>
            <a:br/>
            <a:r>
              <a:t>5. CDSCO / DRA Authority: Real-time fraud incident feed and network-wide instant batch recall broadcast.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8046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Module 1: Prescription Layer (Go Chaincode)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</a:defRPr>
            </a:pPr>
            <a:r>
              <a:t>• Verifies doctor ECDSA signature against Registered Medical Practitioner public key.</a:t>
            </a:r>
            <a:br/>
            <a:r>
              <a:t>• Enforces strict finite state machine: Active -&gt; Fulfilled (prevents double-spend replay).</a:t>
            </a:r>
            <a:br/>
            <a:r>
              <a:t>• Verifies timestamp validity against expiration window (rejects stale prescriptions).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4297680"/>
            <a:ext cx="8046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43891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Module 2: Drug Provenance Layer (Go Chaincode)</a:t>
            </a:r>
          </a:p>
          <a:p>
            <a:pPr>
              <a:spcBef>
                <a:spcPts val="400"/>
              </a:spcBef>
              <a:defRPr sz="1400">
                <a:solidFill>
                  <a:srgbClr val="0F172A"/>
                </a:solidFill>
              </a:defRPr>
            </a:pPr>
            <a:r>
              <a:t>• Verifies batch genesis authenticity against registered manufacturer ledger.</a:t>
            </a:r>
            <a:br/>
            <a:r>
              <a:t>• Enforces custody chain: Batch must be actively owned by dispensing pharmacy node.</a:t>
            </a:r>
            <a:br/>
            <a:r>
              <a:t>• Real-time CDSCO recall enforcement: Instantly rejects flagged sub-standard 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7315200"/>
            <a:ext cx="1645920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7406640"/>
            <a:ext cx="1609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ATOMIC GATEWAY COORDINATOR &amp; COUCHDB WORLD STATE</a:t>
            </a:r>
          </a:p>
          <a:p>
            <a:pPr>
              <a:spcBef>
                <a:spcPts val="400"/>
              </a:spcBef>
              <a:defRPr sz="1450">
                <a:solidFill>
                  <a:srgbClr val="FFFFFF"/>
                </a:solidFill>
              </a:defRPr>
            </a:pPr>
            <a:r>
              <a:t>• Single-Invocation Atomicity: Executes Module 1 and Module 2 concurrently. Commits transaction ONLY if BOTH succeed.</a:t>
            </a:r>
            <a:br/>
            <a:r>
              <a:t>• Zero Partial Updates: If prescription is invalid, drug custody cannot change. If drug is bogus, prescription is not consumed.</a:t>
            </a:r>
            <a:br/>
            <a:r>
              <a:t>• Security Incident Dispatch: Emits instant block event to DRA dashboard with terminal ID, timestamp, and breach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Core Verification Pipeline &amp; Cryptographic Model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Deterministic fraud interception through concurrent evaluation and zero-PII commitment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03120"/>
            <a:ext cx="3840480" cy="7315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347472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Step 1: Doctor Prescribing</a:t>
            </a:r>
          </a:p>
          <a:p>
            <a:pPr>
              <a:spcBef>
                <a:spcPts val="800"/>
              </a:spcBef>
              <a:defRPr sz="1450"/>
            </a:pPr>
            <a:r>
              <a:t>• Doctor drafts medication regimen on Doctor Portal.</a:t>
            </a:r>
          </a:p>
          <a:p>
            <a:pPr>
              <a:spcBef>
                <a:spcPts val="800"/>
              </a:spcBef>
              <a:defRPr sz="1450"/>
            </a:pPr>
            <a:r>
              <a:t>• System generates 128-bit cryptographic random salt: S ∈ {0,1}^128.</a:t>
            </a:r>
          </a:p>
          <a:p>
            <a:pPr>
              <a:spcBef>
                <a:spcPts val="800"/>
              </a:spcBef>
              <a:defRPr sz="1450"/>
            </a:pPr>
            <a:r>
              <a:t>• Calculates SHA-256 digest over tuple: H = SHA256(PatientID || License || Drug || Salt).</a:t>
            </a:r>
          </a:p>
          <a:p>
            <a:pPr>
              <a:spcBef>
                <a:spcPts val="800"/>
              </a:spcBef>
              <a:defRPr sz="1450"/>
            </a:pPr>
            <a:r>
              <a:t>• Signs hash using Doctor private ECDSA key: σ = Sign(K_doc, H).</a:t>
            </a:r>
          </a:p>
          <a:p>
            <a:pPr>
              <a:spcBef>
                <a:spcPts val="800"/>
              </a:spcBef>
              <a:defRPr sz="1450"/>
            </a:pPr>
            <a:r>
              <a:t>• Issues Patient Mobile Pass with QR encoding {RxID, H, σ}.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103120"/>
            <a:ext cx="3840480" cy="7315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286000"/>
            <a:ext cx="347472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Step 2: Supply Chain Handshake</a:t>
            </a:r>
          </a:p>
          <a:p>
            <a:pPr>
              <a:spcBef>
                <a:spcPts val="800"/>
              </a:spcBef>
              <a:defRPr sz="1450"/>
            </a:pPr>
            <a:r>
              <a:t>• Manufacturer mints genesis batch asset on ledger.</a:t>
            </a:r>
          </a:p>
          <a:p>
            <a:pPr>
              <a:spcBef>
                <a:spcPts val="800"/>
              </a:spcBef>
              <a:defRPr sz="1450"/>
            </a:pPr>
            <a:r>
              <a:t>• Package labeled with GS1 DataMatrix 2D barcode encoding BatchID.</a:t>
            </a:r>
          </a:p>
          <a:p>
            <a:pPr>
              <a:spcBef>
                <a:spcPts val="800"/>
              </a:spcBef>
              <a:defRPr sz="1450"/>
            </a:pPr>
            <a:r>
              <a:t>• Distributors sign multi-hop custody transitions at logistics checkpoints.</a:t>
            </a:r>
          </a:p>
          <a:p>
            <a:pPr>
              <a:spcBef>
                <a:spcPts val="800"/>
              </a:spcBef>
              <a:defRPr sz="1450"/>
            </a:pPr>
            <a:r>
              <a:t>• Pharmacy scans and acknowledges physical receiving; custody transfers to Pharmacy MSP ID.</a:t>
            </a:r>
          </a:p>
          <a:p>
            <a:pPr>
              <a:spcBef>
                <a:spcPts val="800"/>
              </a:spcBef>
              <a:defRPr sz="1450"/>
            </a:pPr>
            <a:r>
              <a:t>• DRA continuously audits lot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103120"/>
            <a:ext cx="3840480" cy="73152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286000"/>
            <a:ext cx="347472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Step 3: Point-of-Sale Scan</a:t>
            </a:r>
          </a:p>
          <a:p>
            <a:pPr>
              <a:spcBef>
                <a:spcPts val="800"/>
              </a:spcBef>
              <a:defRPr sz="1450"/>
            </a:pPr>
            <a:r>
              <a:t>• Pharmacist scans Patient QR code + Drug Box 2D Barcode at POS.</a:t>
            </a:r>
          </a:p>
          <a:p>
            <a:pPr>
              <a:spcBef>
                <a:spcPts val="800"/>
              </a:spcBef>
              <a:defRPr sz="1450"/>
            </a:pPr>
            <a:r>
              <a:t>• POS invokes Atomic Gateway with tuple: (RxID, BatchID, PharmacyID).</a:t>
            </a:r>
          </a:p>
          <a:p>
            <a:pPr>
              <a:spcBef>
                <a:spcPts val="800"/>
              </a:spcBef>
              <a:defRPr sz="1450"/>
            </a:pPr>
            <a:r>
              <a:t>• Query CouchDB world-state for Rx and Batch records in parallel.</a:t>
            </a:r>
          </a:p>
          <a:p>
            <a:pPr>
              <a:spcBef>
                <a:spcPts val="800"/>
              </a:spcBef>
              <a:defRPr sz="1450"/>
            </a:pPr>
            <a:r>
              <a:t>• Verify ECDSA signature with Doctor public key.</a:t>
            </a:r>
          </a:p>
          <a:p>
            <a:pPr>
              <a:spcBef>
                <a:spcPts val="800"/>
              </a:spcBef>
              <a:defRPr sz="1450"/>
            </a:pPr>
            <a:r>
              <a:t>• Check expiration timestamps and CDSCO recall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0" y="2103120"/>
            <a:ext cx="3840480" cy="7315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0" y="2286000"/>
            <a:ext cx="347472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4: Atomic Verdict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CASE 1 (All Checks Pass):</a:t>
            </a:r>
            <a:br/>
            <a:r>
              <a:t>• Rx marked 'Fulfilled'</a:t>
            </a:r>
            <a:br/>
            <a:r>
              <a:t>• Batch marked 'Dispensed'</a:t>
            </a:r>
            <a:br/>
            <a:r>
              <a:t>• Block minted to ledger</a:t>
            </a:r>
            <a:br/>
            <a:r>
              <a:t>• Dispense Authorized (Green)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CASE 2 (Any Check Fails):</a:t>
            </a:r>
            <a:br/>
            <a:r>
              <a:t>• Abort transaction immediately</a:t>
            </a:r>
            <a:br/>
            <a:r>
              <a:t>• Ledger state unchanged</a:t>
            </a:r>
            <a:br/>
            <a:r>
              <a:t>• Flag fraud code to DRA</a:t>
            </a:r>
            <a:br/>
            <a:r>
              <a:t>• Counter Counterfeit/Replay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Datasets &amp; Experimental Setup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Comprehensive evaluation across 8 pharmaceutical therapeutic classes and 5,230 transactions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058400" cy="7498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91840"/>
                <a:gridCol w="1280160"/>
                <a:gridCol w="1463040"/>
                <a:gridCol w="1463040"/>
                <a:gridCol w="1645920"/>
              </a:tblGrid>
              <a:tr h="833119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Therapeutic Class / Representative Drugs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Clean (Auth)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Attacks (Block)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Primary Risk Vector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Anti-Infectives (Azithromycin, Cefixime)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400 (61.5%)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250 (38.5%)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Counterfeit Batches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Opioids &amp; Controlled (Tramadol, Codeine)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320 (45.7%)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380 (54.3%)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Replay / Doctor Shopping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Cardiovascular (Amlodipine, Telmisartan)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620 (77.5%)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180 (22.5%)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High-volume Distribution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Antidiabetics &amp; Insulin (Metformin, Glargine)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550 (73.3%)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200 (26.7%)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Broken Cold-Chain Custody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Oncology &amp; Biologics (Trastuzumab, Rituximab)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310 (62.0%)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190 (38.0%)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Regulatory Recalls / Purity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Respiratory &amp; Inhalers (Budesonide, Salbutamol)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460 (76.7%)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140 (23.3%)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Counterfeit Aerosols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3119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Gastrointestinal (Pantoprazole, Omeprazole)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510 (78.5%)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140 (21.5%)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Expired Batch Fulfilment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3127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Neuro-Psychiatric (Escitalopram, Alprazolam)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340 (58.6%)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240 (41.4%)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Prescription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1338560" y="2011680"/>
            <a:ext cx="603504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286000"/>
            <a:ext cx="54864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Testbed Specifications</a:t>
            </a:r>
          </a:p>
          <a:p>
            <a:pPr>
              <a:spcBef>
                <a:spcPts val="1000"/>
              </a:spcBef>
              <a:defRPr sz="1500"/>
            </a:pPr>
            <a:r>
              <a:t>• Consortium Nodes: 6 Dockerized peer nodes representing Apollo Pharmacy, Cipla Mfg, Sun Pharma, Regional Hub, Apollo POS, CDSCO.</a:t>
            </a:r>
          </a:p>
          <a:p>
            <a:pPr>
              <a:spcBef>
                <a:spcPts val="1000"/>
              </a:spcBef>
              <a:defRPr sz="1500"/>
            </a:pPr>
            <a:r>
              <a:t>• Consensus Engine: Raft Crash Fault Tolerant (CFT) ordering service with 3 orderer nodes.</a:t>
            </a:r>
          </a:p>
          <a:p>
            <a:pPr>
              <a:spcBef>
                <a:spcPts val="1000"/>
              </a:spcBef>
              <a:defRPr sz="1500"/>
            </a:pPr>
            <a:r>
              <a:t>• Hardware Platform: Intel Core i7-13700H (14 cores / 20 threads), 32 GB LPDDR5 RAM, Ubuntu 22.04 LTS WSL2 backend.</a:t>
            </a:r>
          </a:p>
          <a:p>
            <a:pPr>
              <a:spcBef>
                <a:spcPts val="1000"/>
              </a:spcBef>
              <a:defRPr sz="1500"/>
            </a:pPr>
            <a:r>
              <a:t>• Cryptographic Primitives: ECDSA with NIST P-256 (secp256r1) curve + SHA-256 hash digests.</a:t>
            </a:r>
          </a:p>
          <a:p>
            <a:pPr>
              <a:spcBef>
                <a:spcPts val="1000"/>
              </a:spcBef>
              <a:defRPr sz="1500"/>
            </a:pPr>
            <a:r>
              <a:t>• Database: CouchDB v3.3.2 state store with off-chain MongoDB v7.0 for patient metadata.</a:t>
            </a:r>
          </a:p>
          <a:p>
            <a:pPr>
              <a:spcBef>
                <a:spcPts val="1000"/>
              </a:spcBef>
              <a:defRPr sz="1500"/>
            </a:pPr>
            <a:r>
              <a:t>• Workload Generator: Automated multi-threaded harness injecting concurrent POS scan bursts (10 to 500 parallel terminals).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Overall Results: Security Verification Matrix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100% deterministic fraud interception with zero false positives across 5,230 cycles</a:t>
            </a:r>
          </a:p>
        </p:txBody>
      </p:sp>
      <p:pic>
        <p:nvPicPr>
          <p:cNvPr id="3" name="Picture 2" descr="fig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7772400" cy="666205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0" y="2011680"/>
            <a:ext cx="822960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2194560"/>
            <a:ext cx="7498079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Empirical Verification Metrics (N = 5,230)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Overall Classification Accuracy: 100.0%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Zero misclassifications across all 8 datasets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Replay / Double-Spend Block Rate: 100.0% (460 / 460)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Rx state transition lock prevents duplicate dispensing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Counterfeit Drug Interception: 100.0% (380 / 380)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Unregistered batch barcodes immediately rejected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Broken Custody Interception: 100.0% (430 / 430)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Physical location mismatch blocks dispensing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Regulatory Recall Enforcement: 100.0% (240 / 240)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CDSCO recall bit blocks transactions in real time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False Positive Rate (FPR): 0.00%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Legitimate patients never denied genuine medicine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• F1-Score / Precision / Recall: 1.000 / 1.000 / 1.000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↳ Deterministic cryptographic boolean guarantee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Performance Decomposition &amp; Micro-Benchmarks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Sub-2.5 millisecond end-to-end verification latency at point-of-sale</a:t>
            </a:r>
          </a:p>
        </p:txBody>
      </p:sp>
      <p:pic>
        <p:nvPicPr>
          <p:cNvPr id="3" name="Picture 2" descr="fig1_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9601200" cy="4800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0" y="2011680"/>
            <a:ext cx="6400800" cy="7498079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286000"/>
            <a:ext cx="585216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Latency Breakdown Analysis</a:t>
            </a:r>
          </a:p>
          <a:p>
            <a:pPr>
              <a:spcBef>
                <a:spcPts val="1000"/>
              </a:spcBef>
              <a:defRPr sz="1500"/>
            </a:pPr>
            <a:r>
              <a:t>• World State Query (~0.43 ms): Concurrent asynchronous fetch of Prescription and Drug Batch documents from CouchDB world state.</a:t>
            </a:r>
          </a:p>
          <a:p>
            <a:pPr>
              <a:spcBef>
                <a:spcPts val="1000"/>
              </a:spcBef>
              <a:defRPr sz="1500"/>
            </a:pPr>
            <a:r>
              <a:t>• Cryptographic Verification (~1.19 ms): Real ECDSA secp256r1 signature verification and SHA-256 salted hash calculation. Dominates compute (~49% of total time).</a:t>
            </a:r>
          </a:p>
          <a:p>
            <a:pPr>
              <a:spcBef>
                <a:spcPts val="1000"/>
              </a:spcBef>
              <a:defRPr sz="1500"/>
            </a:pPr>
            <a:r>
              <a:t>• Dual-Layer Policy Engine (~0.18 ms): In-memory boolean evaluation of custody, expiry timestamps, fulfillment flags, and CDSCO recall status.</a:t>
            </a:r>
          </a:p>
          <a:p>
            <a:pPr>
              <a:spcBef>
                <a:spcPts val="1000"/>
              </a:spcBef>
              <a:defRPr sz="1500"/>
            </a:pPr>
            <a:r>
              <a:t>• Atomic State Commit (~0.66 ms): Chained SHA-256 block creation, incident logging, and world-state mutation.</a:t>
            </a:r>
          </a:p>
          <a:p>
            <a:pPr>
              <a:spcBef>
                <a:spcPts val="1000"/>
              </a:spcBef>
              <a:defRPr sz="1500"/>
            </a:pPr>
            <a:r>
              <a:t>• Total End-to-End Latency: 2.44 ms average. Well below human perception threshold (&lt;100 ms), ensuring zero checkout delay at retail pharmacy counters.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Throughput Scalability Under High Concurrency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MedTrust sustains up to 1,690 TPS, easily outperforming public gas-limited chains</a:t>
            </a:r>
          </a:p>
        </p:txBody>
      </p:sp>
      <p:pic>
        <p:nvPicPr>
          <p:cNvPr id="3" name="Picture 2" descr="fig2_throughput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9601200" cy="533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0" y="2011680"/>
            <a:ext cx="640080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286000"/>
            <a:ext cx="585216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Scalability Observations</a:t>
            </a:r>
          </a:p>
          <a:p>
            <a:pPr>
              <a:spcBef>
                <a:spcPts val="1000"/>
              </a:spcBef>
              <a:defRPr sz="1500"/>
            </a:pPr>
            <a:r>
              <a:t>• Peak Throughput: MedTrust reaches 1,690 Transactions Per Second (TPS) at 500 concurrent dispensing terminals.</a:t>
            </a:r>
          </a:p>
          <a:p>
            <a:pPr>
              <a:spcBef>
                <a:spcPts val="1000"/>
              </a:spcBef>
              <a:defRPr sz="1500"/>
            </a:pPr>
            <a:r>
              <a:t>• Gas-Free Determinism: Unlike Ethereum-based proposals that stall at 15 TPS due to block gas limits, Hyperledger Fabric uses Raft CFT ordering with zero transaction fees.</a:t>
            </a:r>
          </a:p>
          <a:p>
            <a:pPr>
              <a:spcBef>
                <a:spcPts val="1000"/>
              </a:spcBef>
              <a:defRPr sz="1500"/>
            </a:pPr>
            <a:r>
              <a:t>• Near-RDBMS Performance: Reaches ~72% of the throughput of an un-replicated, centralized PostgreSQL database (2,350 TPS), while delivering Byzantine tamper-resistance and multi-stakeholder decentralization.</a:t>
            </a:r>
          </a:p>
          <a:p>
            <a:pPr>
              <a:spcBef>
                <a:spcPts val="1000"/>
              </a:spcBef>
              <a:defRPr sz="1500"/>
            </a:pPr>
            <a:r>
              <a:t>• National Scale Viability: India processes ~12 million prescriptions daily (~140 dispenses/sec average, ~600 peak/sec). MedTrust's 1,690 TPS comfortably handles nationwide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Security Boundary &amp; Attack Vector Analysis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Simulated adversarial attacks and corresponding defensive interceptions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103120"/>
          <a:ext cx="1645920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011680"/>
                <a:gridCol w="3657600"/>
                <a:gridCol w="4389120"/>
              </a:tblGrid>
              <a:tr h="1018902">
                <a:tc>
                  <a:txBody>
                    <a:bodyPr/>
                    <a:lstStyle/>
                    <a:p>
                      <a:pPr algn="l">
                        <a:defRPr b="1" sz="13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Attack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Adversary Attack Vector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Interception 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Breach Code Triggered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Security / Regulatory 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Clean Dispense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Legitimate patient with authentic prescription &amp; genuine drug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All Gates 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SUCCESS (Authorized)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Rx marked Fulfilled, Drug marked Dispensed atomically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Replay 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Patient copies QR pass to fill narcotic prescription at multiple pharmacies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Prescription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REPLAY_FRAUD_DETECTED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Blocked instantly; flagged to DRA Narcotics diversion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Counterfeit Batch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Unscrupulous retailer injects fake drug box with unregistered barcode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Drug Layer 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COUNTERFEIT_BATCH_DETECTED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Dispense blocked; pharmacy node audited; police notification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Broken Custody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Drug diverted from distributor hijacked or stolen in transit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Custody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BROKEN_CUSTODY_CHAIN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Blocked; logistics carrier flagged for unauthorized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1890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Regulatory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Manufacturer or CDSCO detects contamination; recall broadcast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Recall Flag 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RECALLED_DRUG_BATCH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Zero-day block nationwide across all 100% connected pharmacies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1890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Expired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Patient presents outdated prescription past 30-day validity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Time Check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EXPIRED_PRESCRIPTION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Dispensing rejected; patient prompted to consult doctor for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Privacy Preservation &amp; DPDP Act (2023) Compliance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Eliminating patient re-identification while achieving 96.2% ledger storage reduction</a:t>
            </a:r>
          </a:p>
        </p:txBody>
      </p:sp>
      <p:pic>
        <p:nvPicPr>
          <p:cNvPr id="3" name="Picture 2" descr="fig5_storage_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9601200" cy="533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0" y="2011680"/>
            <a:ext cx="640080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2286000"/>
            <a:ext cx="585216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Cryptographic Privacy Model</a:t>
            </a:r>
          </a:p>
          <a:p>
            <a:pPr>
              <a:spcBef>
                <a:spcPts val="800"/>
              </a:spcBef>
              <a:defRPr sz="1500"/>
            </a:pPr>
            <a:r>
              <a:t>• Zero On-Chain PII: Patient Name, Aadhaar, Age, Gender, and Medical Diagnosis are NEVER written to the blockchain.</a:t>
            </a:r>
          </a:p>
          <a:p>
            <a:pPr>
              <a:spcBef>
                <a:spcPts val="800"/>
              </a:spcBef>
              <a:defRPr sz="1500"/>
            </a:pPr>
            <a:r>
              <a:t>• Salted SHA-256 Entropy: Each prescription incorporates a 128-bit cryptographically secure random salt (2^128 search space), rendering rainbow table and brute-force attacks computationally infeasible.</a:t>
            </a:r>
          </a:p>
          <a:p>
            <a:pPr>
              <a:spcBef>
                <a:spcPts val="800"/>
              </a:spcBef>
              <a:defRPr sz="1500"/>
            </a:pPr>
            <a:r>
              <a:t>• Unlinkable Pseudonymity: Multiple prescriptions issued to the same patient yield completely uncorrelated 256-bit hashes, preventing dossier profiling.</a:t>
            </a:r>
          </a:p>
          <a:p>
            <a:pPr>
              <a:spcBef>
                <a:spcPts val="800"/>
              </a:spcBef>
              <a:defRPr sz="1500"/>
            </a:pPr>
            <a:r>
              <a:t>• Off-Chain Sensitive Storage: Clinical details stored securely in doctor/patient off-chain MongoDB instance; only cryptographic hashes cross into the public consortium.</a:t>
            </a:r>
          </a:p>
          <a:p>
            <a:pPr>
              <a:spcBef>
                <a:spcPts val="800"/>
              </a:spcBef>
              <a:defRPr sz="1500"/>
            </a:pPr>
            <a:r>
              <a:t>• 96.2% Ledger Storage Reduction: On-chain footprint is only 0.48 KB per dispense vs 12.5 KB for monolithic FHIR/PDF chains, enabling 100K transactions in under 47 MB.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Multi-Dimensional Benchmark Against State-of-the-Art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MedTrust uniquely dominates across privacy, latency, gas cost, and dual-layer atomicity</a:t>
            </a:r>
          </a:p>
        </p:txBody>
      </p:sp>
      <p:pic>
        <p:nvPicPr>
          <p:cNvPr id="3" name="Picture 2" descr="fig4_comparative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8412480" cy="7360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92640" y="2011680"/>
            <a:ext cx="768096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194560"/>
            <a:ext cx="6949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Comparison Highlights</a:t>
            </a:r>
          </a:p>
          <a:p>
            <a:pPr>
              <a:spcBef>
                <a:spcPts val="1200"/>
              </a:spcBef>
              <a:defRPr sz="1550"/>
            </a:pPr>
            <a:r>
              <a:t>• Vs Ethereum E-Prescriptions: Public Ethereum incurs high gas fees ($2–$25/tx), unpredictable 15-second block latency, and 15 TPS throughput cap. MedTrust provides 0 gas fees, 2.4 ms latency, and 1,690 TPS.</a:t>
            </a:r>
          </a:p>
          <a:p>
            <a:pPr>
              <a:spcBef>
                <a:spcPts val="1200"/>
              </a:spcBef>
              <a:defRPr sz="1550"/>
            </a:pPr>
            <a:r>
              <a:t>• Vs PharmaChain / HyperChain: Existing drug traceability systems track serialized boxes but ignore prescription legitimacy, leaving a massive backdoor for forged prescriptions.</a:t>
            </a:r>
          </a:p>
          <a:p>
            <a:pPr>
              <a:spcBef>
                <a:spcPts val="1200"/>
              </a:spcBef>
              <a:defRPr sz="1550"/>
            </a:pPr>
            <a:r>
              <a:t>• Vs Centralized State PDMPs: Traditional SQL prescription monitoring programs suffer from single-point-of-failure vulnerabilities, insider tampering risks, and lack physical drug provenance.</a:t>
            </a:r>
          </a:p>
          <a:p>
            <a:pPr>
              <a:spcBef>
                <a:spcPts val="1200"/>
              </a:spcBef>
              <a:defRPr sz="1550"/>
            </a:pPr>
            <a:r>
              <a:t>• Unified Synergy: MedTrust is the first framework to achieve 100% Dual-Layer Atomicity with full DPDP Act compliance and sub-3ms retail checkout latency.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645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Conclusion &amp; Project Deliverables</a:t>
            </a:r>
          </a:p>
          <a:p>
            <a:pPr>
              <a:spcBef>
                <a:spcPts val="600"/>
              </a:spcBef>
              <a:defRPr sz="1800">
                <a:solidFill>
                  <a:srgbClr val="0284C7"/>
                </a:solidFill>
                <a:latin typeface="Segoe UI"/>
              </a:defRPr>
            </a:pPr>
            <a:r>
              <a:t>A fully functional, end-to-end verified prototype ready for real-world pilot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8046720" cy="74980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7498079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Completed Capstone Deliverables</a:t>
            </a:r>
          </a:p>
          <a:p>
            <a:pPr>
              <a:spcBef>
                <a:spcPts val="1000"/>
              </a:spcBef>
              <a:defRPr sz="1500"/>
            </a:pPr>
            <a:r>
              <a:t>✔ Go Chaincode Contracts: Written, modularized, and tested: prescription_layer.go, drug_provenance_layer.go, gateway_contract.go.</a:t>
            </a:r>
          </a:p>
          <a:p>
            <a:pPr>
              <a:spcBef>
                <a:spcPts val="1000"/>
              </a:spcBef>
              <a:defRPr sz="1500"/>
            </a:pPr>
            <a:r>
              <a:t>✔ Cryptographic Verification Engine: Real ECDSA secp256r1 signing/verification and salted SHA-256 generation in crypto_engine.js.</a:t>
            </a:r>
          </a:p>
          <a:p>
            <a:pPr>
              <a:spcBef>
                <a:spcPts val="1000"/>
              </a:spcBef>
              <a:defRPr sz="1500"/>
            </a:pPr>
            <a:r>
              <a:t>✔ Node.js Express Blockchain Gateway: Multi-organization REST API orchestrating atomic dual-layer verification and CouchDB state management.</a:t>
            </a:r>
          </a:p>
          <a:p>
            <a:pPr>
              <a:spcBef>
                <a:spcPts val="1000"/>
              </a:spcBef>
              <a:defRPr sz="1500"/>
            </a:pPr>
            <a:r>
              <a:t>✔ React 18 Healthcare UI: Full responsive multi-role frontend featuring Doctor Portal, Patient Mobile Pass, Pharmacist POS, Manufacturer Hub, and CDSCO Command Center.</a:t>
            </a:r>
          </a:p>
          <a:p>
            <a:pPr>
              <a:spcBef>
                <a:spcPts val="1000"/>
              </a:spcBef>
              <a:defRPr sz="1500"/>
            </a:pPr>
            <a:r>
              <a:t>✔ Benchmark &amp; Simulation Suite: End-to-end evaluation suite testing Scenarios A through F across 8 realistic Indian pharma datasets.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011680"/>
            <a:ext cx="804672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194560"/>
            <a:ext cx="7498079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Directions &amp; Pilot Deployment</a:t>
            </a:r>
          </a:p>
          <a:p>
            <a:pPr>
              <a:spcBef>
                <a:spcPts val="1000"/>
              </a:spcBef>
              <a:defRPr sz="1500"/>
            </a:pPr>
            <a:r>
              <a:t>➔ Fabric Testnet Deployment: Deploy compiled Go chaincode directly to multi-peer Hyperledger Fabric test-network via fabric-gateway SDK.</a:t>
            </a:r>
          </a:p>
          <a:p>
            <a:pPr>
              <a:spcBef>
                <a:spcPts val="1000"/>
              </a:spcBef>
              <a:defRPr sz="1500"/>
            </a:pPr>
            <a:r>
              <a:t>➔ Hardware Integration: Direct Bluetooth/HID barcode and RFID scanner integration with POS cashier terminal hardware.</a:t>
            </a:r>
          </a:p>
          <a:p>
            <a:pPr>
              <a:spcBef>
                <a:spcPts val="1000"/>
              </a:spcBef>
              <a:defRPr sz="1500"/>
            </a:pPr>
            <a:r>
              <a:t>➔ ABDM / Ayushman Bharat Digital Mission: Interoperability with India's Ayushman Bharat Health Account (ABHA) and Electronic Health Record (EHR) standards.</a:t>
            </a:r>
          </a:p>
          <a:p>
            <a:pPr>
              <a:spcBef>
                <a:spcPts val="1000"/>
              </a:spcBef>
              <a:defRPr sz="1500"/>
            </a:pPr>
            <a:r>
              <a:t>➔ Zero-Knowledge Range Proofs: Exploring Bulletproofs for dosage validation without revealing specific prescription contents.</a:t>
            </a:r>
          </a:p>
          <a:p>
            <a:pPr>
              <a:spcBef>
                <a:spcPts val="1000"/>
              </a:spcBef>
              <a:defRPr sz="1500"/>
            </a:pPr>
            <a:r>
              <a:t>➔ Pilot Pharmacy Trial: Field trial in partnership with hospital pharmacies to evaluate cashier workflow ergonomics and real-world throughput.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6459200" cy="8458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14996159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Key Academic References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[1] S. Pancari et al., 'A Systematic Comparison between Ethereum and Hyperledger Fabric Blockchain Platforms,' Sensors, 23(19):8319, 2023.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[2] A. Musamih et al., 'A Blockchain-based Approach for Drug Traceability in Healthcare Supply Chain,' IEEE Access, 9:9728–9743, 2021.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[3] CEUR Workshop Proceedings, 'A Blockchain Based Approach for E-Prescription System Security and Traceability,' Vol. 3616, 2024.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[4] N. Zakari et al., 'Blockchain technology in the pharmaceutical industry: a systematic review,' PeerJ Computer Science, 8:e840, 2022.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[5] Ministry of Law and Justice (Govt. of India), 'The Digital Personal Data Protection Act, 2023,' The Gazette of India, Act No. 22 of 2023.</a:t>
            </a:r>
          </a:p>
          <a:p>
            <a:pPr>
              <a:spcBef>
                <a:spcPts val="3600"/>
              </a:spcBef>
              <a:defRPr sz="40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1000"/>
              </a:spcBef>
              <a:defRPr sz="1800">
                <a:solidFill>
                  <a:srgbClr val="0284C7"/>
                </a:solidFill>
              </a:defRPr>
            </a:pPr>
            <a:r>
              <a:t>MedTrust Project Repository &amp; Demo: https://github.com/medtrust | NMIMS Indore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