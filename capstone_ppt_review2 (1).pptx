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8" r:id="rId4"/>
    <p:sldId id="259" r:id="rId5"/>
    <p:sldId id="274" r:id="rId6"/>
    <p:sldId id="275" r:id="rId7"/>
    <p:sldId id="273" r:id="rId8"/>
    <p:sldId id="276" r:id="rId9"/>
    <p:sldId id="279" r:id="rId10"/>
    <p:sldId id="280" r:id="rId11"/>
    <p:sldId id="262" r:id="rId12"/>
    <p:sldId id="266" r:id="rId13"/>
    <p:sldId id="267" r:id="rId1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D2C788-F4AB-4898-86DB-8C8864FC92B9}" v="93" dt="2026-09-22T10:42:56.09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shek Soni" userId="3cc3ee7a75fc0c27" providerId="LiveId" clId="{057F00B2-1532-47E0-B83A-4AD1D51904B5}"/>
    <pc:docChg chg="undo redo custSel delSld modSld">
      <pc:chgData name="Abhishek Soni" userId="3cc3ee7a75fc0c27" providerId="LiveId" clId="{057F00B2-1532-47E0-B83A-4AD1D51904B5}" dt="2026-09-22T11:30:27.493" v="450" actId="47"/>
      <pc:docMkLst>
        <pc:docMk/>
      </pc:docMkLst>
      <pc:sldChg chg="modSp mod">
        <pc:chgData name="Abhishek Soni" userId="3cc3ee7a75fc0c27" providerId="LiveId" clId="{057F00B2-1532-47E0-B83A-4AD1D51904B5}" dt="2026-09-22T09:54:29.511" v="224" actId="20577"/>
        <pc:sldMkLst>
          <pc:docMk/>
          <pc:sldMk cId="0" sldId="256"/>
        </pc:sldMkLst>
        <pc:spChg chg="mod">
          <ac:chgData name="Abhishek Soni" userId="3cc3ee7a75fc0c27" providerId="LiveId" clId="{057F00B2-1532-47E0-B83A-4AD1D51904B5}" dt="2026-09-22T09:54:29.511" v="224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Abhishek Soni" userId="3cc3ee7a75fc0c27" providerId="LiveId" clId="{057F00B2-1532-47E0-B83A-4AD1D51904B5}" dt="2026-09-22T09:38:23.943" v="46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Abhishek Soni" userId="3cc3ee7a75fc0c27" providerId="LiveId" clId="{057F00B2-1532-47E0-B83A-4AD1D51904B5}" dt="2026-09-22T10:39:52.270" v="433" actId="1076"/>
        <pc:sldMkLst>
          <pc:docMk/>
          <pc:sldMk cId="0" sldId="257"/>
        </pc:sldMkLst>
        <pc:spChg chg="add mod">
          <ac:chgData name="Abhishek Soni" userId="3cc3ee7a75fc0c27" providerId="LiveId" clId="{057F00B2-1532-47E0-B83A-4AD1D51904B5}" dt="2026-09-22T10:39:52.270" v="433" actId="1076"/>
          <ac:spMkLst>
            <pc:docMk/>
            <pc:sldMk cId="0" sldId="257"/>
            <ac:spMk id="2" creationId="{4068B627-D088-5969-70D6-7C012D4A4B11}"/>
          </ac:spMkLst>
        </pc:spChg>
        <pc:spChg chg="del mod">
          <ac:chgData name="Abhishek Soni" userId="3cc3ee7a75fc0c27" providerId="LiveId" clId="{057F00B2-1532-47E0-B83A-4AD1D51904B5}" dt="2026-09-22T09:40:45.351" v="54" actId="478"/>
          <ac:spMkLst>
            <pc:docMk/>
            <pc:sldMk cId="0" sldId="257"/>
            <ac:spMk id="4" creationId="{3AF39F26-734A-3B6D-DC85-211BD37AF687}"/>
          </ac:spMkLst>
        </pc:spChg>
        <pc:picChg chg="del">
          <ac:chgData name="Abhishek Soni" userId="3cc3ee7a75fc0c27" providerId="LiveId" clId="{057F00B2-1532-47E0-B83A-4AD1D51904B5}" dt="2026-09-22T09:39:33.396" v="48" actId="478"/>
          <ac:picMkLst>
            <pc:docMk/>
            <pc:sldMk cId="0" sldId="257"/>
            <ac:picMk id="7" creationId="{DB7BCE3B-C6C6-1DC9-C2EE-5D92FC757A5E}"/>
          </ac:picMkLst>
        </pc:picChg>
      </pc:sldChg>
      <pc:sldChg chg="addSp delSp modSp mod">
        <pc:chgData name="Abhishek Soni" userId="3cc3ee7a75fc0c27" providerId="LiveId" clId="{057F00B2-1532-47E0-B83A-4AD1D51904B5}" dt="2026-09-22T10:03:39.086" v="255" actId="1076"/>
        <pc:sldMkLst>
          <pc:docMk/>
          <pc:sldMk cId="0" sldId="259"/>
        </pc:sldMkLst>
        <pc:spChg chg="mod">
          <ac:chgData name="Abhishek Soni" userId="3cc3ee7a75fc0c27" providerId="LiveId" clId="{057F00B2-1532-47E0-B83A-4AD1D51904B5}" dt="2026-09-22T10:03:39.086" v="255" actId="1076"/>
          <ac:spMkLst>
            <pc:docMk/>
            <pc:sldMk cId="0" sldId="259"/>
            <ac:spMk id="5" creationId="{BC819EAA-79A3-FF27-FBA3-1C996030FD7E}"/>
          </ac:spMkLst>
        </pc:spChg>
        <pc:picChg chg="del">
          <ac:chgData name="Abhishek Soni" userId="3cc3ee7a75fc0c27" providerId="LiveId" clId="{057F00B2-1532-47E0-B83A-4AD1D51904B5}" dt="2026-09-22T09:56:37.423" v="227" actId="478"/>
          <ac:picMkLst>
            <pc:docMk/>
            <pc:sldMk cId="0" sldId="259"/>
            <ac:picMk id="4" creationId="{E09AA079-186A-2A15-EBAA-7765C50664A1}"/>
          </ac:picMkLst>
        </pc:picChg>
        <pc:picChg chg="add del mod">
          <ac:chgData name="Abhishek Soni" userId="3cc3ee7a75fc0c27" providerId="LiveId" clId="{057F00B2-1532-47E0-B83A-4AD1D51904B5}" dt="2026-09-22T09:58:55.843" v="229" actId="478"/>
          <ac:picMkLst>
            <pc:docMk/>
            <pc:sldMk cId="0" sldId="259"/>
            <ac:picMk id="6" creationId="{A38B2A27-A478-FBF9-7110-0DE4D83063A2}"/>
          </ac:picMkLst>
        </pc:picChg>
        <pc:picChg chg="add del">
          <ac:chgData name="Abhishek Soni" userId="3cc3ee7a75fc0c27" providerId="LiveId" clId="{057F00B2-1532-47E0-B83A-4AD1D51904B5}" dt="2026-09-22T10:01:44.706" v="231" actId="478"/>
          <ac:picMkLst>
            <pc:docMk/>
            <pc:sldMk cId="0" sldId="259"/>
            <ac:picMk id="8" creationId="{1AB8D1A4-870D-79F5-B0C5-DDA65B331099}"/>
          </ac:picMkLst>
        </pc:picChg>
        <pc:picChg chg="add mod">
          <ac:chgData name="Abhishek Soni" userId="3cc3ee7a75fc0c27" providerId="LiveId" clId="{057F00B2-1532-47E0-B83A-4AD1D51904B5}" dt="2026-09-22T10:03:29.260" v="254" actId="14100"/>
          <ac:picMkLst>
            <pc:docMk/>
            <pc:sldMk cId="0" sldId="259"/>
            <ac:picMk id="10" creationId="{4A870069-B4FF-698E-6D9B-DA5CB7EE5B21}"/>
          </ac:picMkLst>
        </pc:picChg>
      </pc:sldChg>
      <pc:sldChg chg="modSp mod">
        <pc:chgData name="Abhishek Soni" userId="3cc3ee7a75fc0c27" providerId="LiveId" clId="{057F00B2-1532-47E0-B83A-4AD1D51904B5}" dt="2026-09-22T10:42:00.855" v="440" actId="403"/>
        <pc:sldMkLst>
          <pc:docMk/>
          <pc:sldMk cId="0" sldId="262"/>
        </pc:sldMkLst>
        <pc:spChg chg="mod">
          <ac:chgData name="Abhishek Soni" userId="3cc3ee7a75fc0c27" providerId="LiveId" clId="{057F00B2-1532-47E0-B83A-4AD1D51904B5}" dt="2026-09-22T09:51:54.357" v="167" actId="113"/>
          <ac:spMkLst>
            <pc:docMk/>
            <pc:sldMk cId="0" sldId="262"/>
            <ac:spMk id="2" creationId="{00000000-0000-0000-0000-000000000000}"/>
          </ac:spMkLst>
        </pc:spChg>
        <pc:spChg chg="mod">
          <ac:chgData name="Abhishek Soni" userId="3cc3ee7a75fc0c27" providerId="LiveId" clId="{057F00B2-1532-47E0-B83A-4AD1D51904B5}" dt="2026-09-22T10:42:00.855" v="440" actId="403"/>
          <ac:spMkLst>
            <pc:docMk/>
            <pc:sldMk cId="0" sldId="262"/>
            <ac:spMk id="9" creationId="{49069719-2AFE-4CB1-A58D-7D7347A42425}"/>
          </ac:spMkLst>
        </pc:spChg>
      </pc:sldChg>
      <pc:sldChg chg="modSp mod">
        <pc:chgData name="Abhishek Soni" userId="3cc3ee7a75fc0c27" providerId="LiveId" clId="{057F00B2-1532-47E0-B83A-4AD1D51904B5}" dt="2026-09-22T09:52:45.277" v="178" actId="404"/>
        <pc:sldMkLst>
          <pc:docMk/>
          <pc:sldMk cId="0" sldId="266"/>
        </pc:sldMkLst>
        <pc:spChg chg="mod">
          <ac:chgData name="Abhishek Soni" userId="3cc3ee7a75fc0c27" providerId="LiveId" clId="{057F00B2-1532-47E0-B83A-4AD1D51904B5}" dt="2026-09-22T09:52:25.495" v="171" actId="1076"/>
          <ac:spMkLst>
            <pc:docMk/>
            <pc:sldMk cId="0" sldId="266"/>
            <ac:spMk id="3" creationId="{00000000-0000-0000-0000-000000000000}"/>
          </ac:spMkLst>
        </pc:spChg>
        <pc:spChg chg="mod">
          <ac:chgData name="Abhishek Soni" userId="3cc3ee7a75fc0c27" providerId="LiveId" clId="{057F00B2-1532-47E0-B83A-4AD1D51904B5}" dt="2026-09-22T09:52:45.277" v="178" actId="404"/>
          <ac:spMkLst>
            <pc:docMk/>
            <pc:sldMk cId="0" sldId="266"/>
            <ac:spMk id="5" creationId="{B4534475-6BFF-09E0-85BB-D812BD2C7FDB}"/>
          </ac:spMkLst>
        </pc:spChg>
      </pc:sldChg>
      <pc:sldChg chg="addSp delSp modSp mod">
        <pc:chgData name="Abhishek Soni" userId="3cc3ee7a75fc0c27" providerId="LiveId" clId="{057F00B2-1532-47E0-B83A-4AD1D51904B5}" dt="2026-09-22T09:53:49.840" v="216" actId="1076"/>
        <pc:sldMkLst>
          <pc:docMk/>
          <pc:sldMk cId="0" sldId="267"/>
        </pc:sldMkLst>
        <pc:spChg chg="add mod">
          <ac:chgData name="Abhishek Soni" userId="3cc3ee7a75fc0c27" providerId="LiveId" clId="{057F00B2-1532-47E0-B83A-4AD1D51904B5}" dt="2026-09-22T09:53:30.791" v="209" actId="403"/>
          <ac:spMkLst>
            <pc:docMk/>
            <pc:sldMk cId="0" sldId="267"/>
            <ac:spMk id="2" creationId="{FE770A0D-62F5-6D56-3D6B-C2FB669AC9DE}"/>
          </ac:spMkLst>
        </pc:spChg>
        <pc:spChg chg="add mod">
          <ac:chgData name="Abhishek Soni" userId="3cc3ee7a75fc0c27" providerId="LiveId" clId="{057F00B2-1532-47E0-B83A-4AD1D51904B5}" dt="2026-09-22T09:53:49.840" v="216" actId="1076"/>
          <ac:spMkLst>
            <pc:docMk/>
            <pc:sldMk cId="0" sldId="267"/>
            <ac:spMk id="3" creationId="{4BA99491-411F-E5A4-7F96-C8F0E4A7AE34}"/>
          </ac:spMkLst>
        </pc:spChg>
        <pc:picChg chg="del">
          <ac:chgData name="Abhishek Soni" userId="3cc3ee7a75fc0c27" providerId="LiveId" clId="{057F00B2-1532-47E0-B83A-4AD1D51904B5}" dt="2026-09-22T09:53:01.385" v="179" actId="478"/>
          <ac:picMkLst>
            <pc:docMk/>
            <pc:sldMk cId="0" sldId="267"/>
            <ac:picMk id="4" creationId="{9031F489-08C8-0959-15DC-ABF4E0D43904}"/>
          </ac:picMkLst>
        </pc:picChg>
      </pc:sldChg>
      <pc:sldChg chg="addSp delSp modSp mod">
        <pc:chgData name="Abhishek Soni" userId="3cc3ee7a75fc0c27" providerId="LiveId" clId="{057F00B2-1532-47E0-B83A-4AD1D51904B5}" dt="2026-09-22T10:35:28.086" v="373" actId="14100"/>
        <pc:sldMkLst>
          <pc:docMk/>
          <pc:sldMk cId="1896589489" sldId="268"/>
        </pc:sldMkLst>
        <pc:spChg chg="mod">
          <ac:chgData name="Abhishek Soni" userId="3cc3ee7a75fc0c27" providerId="LiveId" clId="{057F00B2-1532-47E0-B83A-4AD1D51904B5}" dt="2026-09-22T09:46:51.725" v="67" actId="113"/>
          <ac:spMkLst>
            <pc:docMk/>
            <pc:sldMk cId="1896589489" sldId="268"/>
            <ac:spMk id="2" creationId="{F51E5071-BB55-03D1-D878-9962BFABA1B2}"/>
          </ac:spMkLst>
        </pc:spChg>
        <pc:picChg chg="add del mod">
          <ac:chgData name="Abhishek Soni" userId="3cc3ee7a75fc0c27" providerId="LiveId" clId="{057F00B2-1532-47E0-B83A-4AD1D51904B5}" dt="2026-09-22T10:35:07.135" v="366" actId="478"/>
          <ac:picMkLst>
            <pc:docMk/>
            <pc:sldMk cId="1896589489" sldId="268"/>
            <ac:picMk id="5" creationId="{490AA61E-7811-28BB-EF23-27F27C4F6C4C}"/>
          </ac:picMkLst>
        </pc:picChg>
        <pc:picChg chg="add mod">
          <ac:chgData name="Abhishek Soni" userId="3cc3ee7a75fc0c27" providerId="LiveId" clId="{057F00B2-1532-47E0-B83A-4AD1D51904B5}" dt="2026-09-22T10:35:28.086" v="373" actId="14100"/>
          <ac:picMkLst>
            <pc:docMk/>
            <pc:sldMk cId="1896589489" sldId="268"/>
            <ac:picMk id="7" creationId="{134DC26E-637F-DE2B-20BB-E74C32A10503}"/>
          </ac:picMkLst>
        </pc:picChg>
        <pc:picChg chg="del">
          <ac:chgData name="Abhishek Soni" userId="3cc3ee7a75fc0c27" providerId="LiveId" clId="{057F00B2-1532-47E0-B83A-4AD1D51904B5}" dt="2026-09-22T10:28:18.709" v="360" actId="478"/>
          <ac:picMkLst>
            <pc:docMk/>
            <pc:sldMk cId="1896589489" sldId="268"/>
            <ac:picMk id="8" creationId="{606FD1CD-E557-CE56-7910-E5C8137C5053}"/>
          </ac:picMkLst>
        </pc:picChg>
      </pc:sldChg>
      <pc:sldChg chg="addSp delSp modSp mod">
        <pc:chgData name="Abhishek Soni" userId="3cc3ee7a75fc0c27" providerId="LiveId" clId="{057F00B2-1532-47E0-B83A-4AD1D51904B5}" dt="2026-09-22T10:15:28.091" v="315" actId="1076"/>
        <pc:sldMkLst>
          <pc:docMk/>
          <pc:sldMk cId="3870581847" sldId="273"/>
        </pc:sldMkLst>
        <pc:graphicFrameChg chg="del modGraphic">
          <ac:chgData name="Abhishek Soni" userId="3cc3ee7a75fc0c27" providerId="LiveId" clId="{057F00B2-1532-47E0-B83A-4AD1D51904B5}" dt="2026-09-22T10:10:55.924" v="294" actId="478"/>
          <ac:graphicFrameMkLst>
            <pc:docMk/>
            <pc:sldMk cId="3870581847" sldId="273"/>
            <ac:graphicFrameMk id="4" creationId="{D64FA2D9-F92E-C055-F324-C587F0277C31}"/>
          </ac:graphicFrameMkLst>
        </pc:graphicFrameChg>
        <pc:picChg chg="add del mod">
          <ac:chgData name="Abhishek Soni" userId="3cc3ee7a75fc0c27" providerId="LiveId" clId="{057F00B2-1532-47E0-B83A-4AD1D51904B5}" dt="2026-09-22T10:13:38.505" v="301" actId="478"/>
          <ac:picMkLst>
            <pc:docMk/>
            <pc:sldMk cId="3870581847" sldId="273"/>
            <ac:picMk id="6" creationId="{BCE2F730-3BCC-FAF9-EAD4-E4389981E8C2}"/>
          </ac:picMkLst>
        </pc:picChg>
        <pc:picChg chg="del">
          <ac:chgData name="Abhishek Soni" userId="3cc3ee7a75fc0c27" providerId="LiveId" clId="{057F00B2-1532-47E0-B83A-4AD1D51904B5}" dt="2026-09-22T10:10:53.083" v="293" actId="478"/>
          <ac:picMkLst>
            <pc:docMk/>
            <pc:sldMk cId="3870581847" sldId="273"/>
            <ac:picMk id="8" creationId="{388EAB9B-4926-E20A-AB38-86C0DA60A931}"/>
          </ac:picMkLst>
        </pc:picChg>
        <pc:picChg chg="add del mod">
          <ac:chgData name="Abhishek Soni" userId="3cc3ee7a75fc0c27" providerId="LiveId" clId="{057F00B2-1532-47E0-B83A-4AD1D51904B5}" dt="2026-09-22T10:14:58.794" v="306" actId="478"/>
          <ac:picMkLst>
            <pc:docMk/>
            <pc:sldMk cId="3870581847" sldId="273"/>
            <ac:picMk id="9" creationId="{6977F86F-0FAC-6AC4-DEDA-A2A9A59FE5D6}"/>
          </ac:picMkLst>
        </pc:picChg>
        <pc:picChg chg="add mod">
          <ac:chgData name="Abhishek Soni" userId="3cc3ee7a75fc0c27" providerId="LiveId" clId="{057F00B2-1532-47E0-B83A-4AD1D51904B5}" dt="2026-09-22T10:15:11.741" v="311" actId="1076"/>
          <ac:picMkLst>
            <pc:docMk/>
            <pc:sldMk cId="3870581847" sldId="273"/>
            <ac:picMk id="11" creationId="{4C71B3BE-20A1-E935-4385-4B1BC2CDC059}"/>
          </ac:picMkLst>
        </pc:picChg>
        <pc:picChg chg="add mod">
          <ac:chgData name="Abhishek Soni" userId="3cc3ee7a75fc0c27" providerId="LiveId" clId="{057F00B2-1532-47E0-B83A-4AD1D51904B5}" dt="2026-09-22T10:15:28.091" v="315" actId="1076"/>
          <ac:picMkLst>
            <pc:docMk/>
            <pc:sldMk cId="3870581847" sldId="273"/>
            <ac:picMk id="13" creationId="{778E4E85-0833-4B3C-E535-1DD16133B38A}"/>
          </ac:picMkLst>
        </pc:picChg>
      </pc:sldChg>
      <pc:sldChg chg="addSp delSp modSp mod">
        <pc:chgData name="Abhishek Soni" userId="3cc3ee7a75fc0c27" providerId="LiveId" clId="{057F00B2-1532-47E0-B83A-4AD1D51904B5}" dt="2026-09-22T10:07:19.431" v="267" actId="14100"/>
        <pc:sldMkLst>
          <pc:docMk/>
          <pc:sldMk cId="3921119294" sldId="274"/>
        </pc:sldMkLst>
        <pc:spChg chg="mod">
          <ac:chgData name="Abhishek Soni" userId="3cc3ee7a75fc0c27" providerId="LiveId" clId="{057F00B2-1532-47E0-B83A-4AD1D51904B5}" dt="2026-09-22T09:47:34.580" v="78" actId="1076"/>
          <ac:spMkLst>
            <pc:docMk/>
            <pc:sldMk cId="3921119294" sldId="274"/>
            <ac:spMk id="2" creationId="{5B75DF94-784A-C206-31EC-929D6D3D6876}"/>
          </ac:spMkLst>
        </pc:spChg>
        <pc:spChg chg="mod">
          <ac:chgData name="Abhishek Soni" userId="3cc3ee7a75fc0c27" providerId="LiveId" clId="{057F00B2-1532-47E0-B83A-4AD1D51904B5}" dt="2026-09-22T10:04:45.058" v="262" actId="1076"/>
          <ac:spMkLst>
            <pc:docMk/>
            <pc:sldMk cId="3921119294" sldId="274"/>
            <ac:spMk id="3" creationId="{8BB231A2-1217-2C75-DAE2-4B612D3EFBB0}"/>
          </ac:spMkLst>
        </pc:spChg>
        <pc:picChg chg="del">
          <ac:chgData name="Abhishek Soni" userId="3cc3ee7a75fc0c27" providerId="LiveId" clId="{057F00B2-1532-47E0-B83A-4AD1D51904B5}" dt="2026-09-22T10:04:48.561" v="263" actId="478"/>
          <ac:picMkLst>
            <pc:docMk/>
            <pc:sldMk cId="3921119294" sldId="274"/>
            <ac:picMk id="5" creationId="{918E101D-1051-D2B8-F57C-390A518C39F9}"/>
          </ac:picMkLst>
        </pc:picChg>
        <pc:picChg chg="add mod">
          <ac:chgData name="Abhishek Soni" userId="3cc3ee7a75fc0c27" providerId="LiveId" clId="{057F00B2-1532-47E0-B83A-4AD1D51904B5}" dt="2026-09-22T10:07:19.431" v="267" actId="14100"/>
          <ac:picMkLst>
            <pc:docMk/>
            <pc:sldMk cId="3921119294" sldId="274"/>
            <ac:picMk id="6" creationId="{17BD0E43-2FC2-853F-DB42-93A37CE1F59E}"/>
          </ac:picMkLst>
        </pc:picChg>
      </pc:sldChg>
      <pc:sldChg chg="addSp delSp modSp mod">
        <pc:chgData name="Abhishek Soni" userId="3cc3ee7a75fc0c27" providerId="LiveId" clId="{057F00B2-1532-47E0-B83A-4AD1D51904B5}" dt="2026-09-22T10:10:42.530" v="289" actId="255"/>
        <pc:sldMkLst>
          <pc:docMk/>
          <pc:sldMk cId="1329334862" sldId="275"/>
        </pc:sldMkLst>
        <pc:spChg chg="add del">
          <ac:chgData name="Abhishek Soni" userId="3cc3ee7a75fc0c27" providerId="LiveId" clId="{057F00B2-1532-47E0-B83A-4AD1D51904B5}" dt="2026-09-22T10:08:12.992" v="270" actId="478"/>
          <ac:spMkLst>
            <pc:docMk/>
            <pc:sldMk cId="1329334862" sldId="275"/>
            <ac:spMk id="2" creationId="{73BA3CF5-B573-5252-B117-39CCA014EED5}"/>
          </ac:spMkLst>
        </pc:spChg>
        <pc:spChg chg="add del">
          <ac:chgData name="Abhishek Soni" userId="3cc3ee7a75fc0c27" providerId="LiveId" clId="{057F00B2-1532-47E0-B83A-4AD1D51904B5}" dt="2026-09-22T10:08:12.992" v="270" actId="478"/>
          <ac:spMkLst>
            <pc:docMk/>
            <pc:sldMk cId="1329334862" sldId="275"/>
            <ac:spMk id="3" creationId="{0F7E22C0-D6A1-87B4-DB8A-05E6C5575542}"/>
          </ac:spMkLst>
        </pc:spChg>
        <pc:spChg chg="add del mod">
          <ac:chgData name="Abhishek Soni" userId="3cc3ee7a75fc0c27" providerId="LiveId" clId="{057F00B2-1532-47E0-B83A-4AD1D51904B5}" dt="2026-09-22T10:08:18.767" v="274"/>
          <ac:spMkLst>
            <pc:docMk/>
            <pc:sldMk cId="1329334862" sldId="275"/>
            <ac:spMk id="6" creationId="{881677E3-1819-8E3A-35AB-D58CE02FA431}"/>
          </ac:spMkLst>
        </pc:spChg>
        <pc:spChg chg="add del mod">
          <ac:chgData name="Abhishek Soni" userId="3cc3ee7a75fc0c27" providerId="LiveId" clId="{057F00B2-1532-47E0-B83A-4AD1D51904B5}" dt="2026-09-22T10:08:12.992" v="270" actId="478"/>
          <ac:spMkLst>
            <pc:docMk/>
            <pc:sldMk cId="1329334862" sldId="275"/>
            <ac:spMk id="7" creationId="{BEA44548-95AE-C173-298D-8361121954C0}"/>
          </ac:spMkLst>
        </pc:spChg>
        <pc:spChg chg="add del mod">
          <ac:chgData name="Abhishek Soni" userId="3cc3ee7a75fc0c27" providerId="LiveId" clId="{057F00B2-1532-47E0-B83A-4AD1D51904B5}" dt="2026-09-22T10:08:12.992" v="270" actId="478"/>
          <ac:spMkLst>
            <pc:docMk/>
            <pc:sldMk cId="1329334862" sldId="275"/>
            <ac:spMk id="10" creationId="{C4A60B8B-E392-9053-0C2D-DC5484E75B94}"/>
          </ac:spMkLst>
        </pc:spChg>
        <pc:spChg chg="add mod">
          <ac:chgData name="Abhishek Soni" userId="3cc3ee7a75fc0c27" providerId="LiveId" clId="{057F00B2-1532-47E0-B83A-4AD1D51904B5}" dt="2026-09-22T10:10:42.530" v="289" actId="255"/>
          <ac:spMkLst>
            <pc:docMk/>
            <pc:sldMk cId="1329334862" sldId="275"/>
            <ac:spMk id="13" creationId="{28094A97-2A02-AEA3-B77F-B334DBA84DEF}"/>
          </ac:spMkLst>
        </pc:spChg>
        <pc:graphicFrameChg chg="add del">
          <ac:chgData name="Abhishek Soni" userId="3cc3ee7a75fc0c27" providerId="LiveId" clId="{057F00B2-1532-47E0-B83A-4AD1D51904B5}" dt="2026-09-22T10:08:15.419" v="271" actId="478"/>
          <ac:graphicFrameMkLst>
            <pc:docMk/>
            <pc:sldMk cId="1329334862" sldId="275"/>
            <ac:graphicFrameMk id="4" creationId="{0F6D15B0-CCBD-60AB-A6D7-AFB43EA2C4C9}"/>
          </ac:graphicFrameMkLst>
        </pc:graphicFrameChg>
        <pc:picChg chg="del">
          <ac:chgData name="Abhishek Soni" userId="3cc3ee7a75fc0c27" providerId="LiveId" clId="{057F00B2-1532-47E0-B83A-4AD1D51904B5}" dt="2026-09-22T10:07:33.191" v="268" actId="478"/>
          <ac:picMkLst>
            <pc:docMk/>
            <pc:sldMk cId="1329334862" sldId="275"/>
            <ac:picMk id="8" creationId="{F2DABB8E-B75C-329F-7966-9C1E281851AA}"/>
          </ac:picMkLst>
        </pc:picChg>
        <pc:picChg chg="add mod">
          <ac:chgData name="Abhishek Soni" userId="3cc3ee7a75fc0c27" providerId="LiveId" clId="{057F00B2-1532-47E0-B83A-4AD1D51904B5}" dt="2026-09-22T10:09:45.007" v="277" actId="1076"/>
          <ac:picMkLst>
            <pc:docMk/>
            <pc:sldMk cId="1329334862" sldId="275"/>
            <ac:picMk id="12" creationId="{B74F930F-05F0-8C3C-992C-2B358B5748CA}"/>
          </ac:picMkLst>
        </pc:picChg>
      </pc:sldChg>
      <pc:sldChg chg="addSp delSp modSp mod">
        <pc:chgData name="Abhishek Soni" userId="3cc3ee7a75fc0c27" providerId="LiveId" clId="{057F00B2-1532-47E0-B83A-4AD1D51904B5}" dt="2026-09-22T10:19:11.622" v="330" actId="14100"/>
        <pc:sldMkLst>
          <pc:docMk/>
          <pc:sldMk cId="2190842747" sldId="276"/>
        </pc:sldMkLst>
        <pc:spChg chg="mod">
          <ac:chgData name="Abhishek Soni" userId="3cc3ee7a75fc0c27" providerId="LiveId" clId="{057F00B2-1532-47E0-B83A-4AD1D51904B5}" dt="2026-09-22T09:49:25.410" v="133" actId="1076"/>
          <ac:spMkLst>
            <pc:docMk/>
            <pc:sldMk cId="2190842747" sldId="276"/>
            <ac:spMk id="2" creationId="{496A51D1-3E52-96A3-16E7-785E92CBC90B}"/>
          </ac:spMkLst>
        </pc:spChg>
        <pc:spChg chg="mod">
          <ac:chgData name="Abhishek Soni" userId="3cc3ee7a75fc0c27" providerId="LiveId" clId="{057F00B2-1532-47E0-B83A-4AD1D51904B5}" dt="2026-09-22T10:19:00.548" v="327" actId="14100"/>
          <ac:spMkLst>
            <pc:docMk/>
            <pc:sldMk cId="2190842747" sldId="276"/>
            <ac:spMk id="3" creationId="{4910DA5C-1FCE-1F4D-A441-1B24B7B05AF4}"/>
          </ac:spMkLst>
        </pc:spChg>
        <pc:picChg chg="del">
          <ac:chgData name="Abhishek Soni" userId="3cc3ee7a75fc0c27" providerId="LiveId" clId="{057F00B2-1532-47E0-B83A-4AD1D51904B5}" dt="2026-09-22T10:18:25.970" v="316" actId="478"/>
          <ac:picMkLst>
            <pc:docMk/>
            <pc:sldMk cId="2190842747" sldId="276"/>
            <ac:picMk id="5" creationId="{5305DD89-E1C5-48ED-7FB8-2193077F715B}"/>
          </ac:picMkLst>
        </pc:picChg>
        <pc:picChg chg="add mod">
          <ac:chgData name="Abhishek Soni" userId="3cc3ee7a75fc0c27" providerId="LiveId" clId="{057F00B2-1532-47E0-B83A-4AD1D51904B5}" dt="2026-09-22T10:19:11.622" v="330" actId="14100"/>
          <ac:picMkLst>
            <pc:docMk/>
            <pc:sldMk cId="2190842747" sldId="276"/>
            <ac:picMk id="6" creationId="{9D3C4938-7F33-1EEC-140F-89948A4FD174}"/>
          </ac:picMkLst>
        </pc:picChg>
      </pc:sldChg>
      <pc:sldChg chg="addSp delSp modSp del mod">
        <pc:chgData name="Abhishek Soni" userId="3cc3ee7a75fc0c27" providerId="LiveId" clId="{057F00B2-1532-47E0-B83A-4AD1D51904B5}" dt="2026-09-22T11:30:27.493" v="450" actId="47"/>
        <pc:sldMkLst>
          <pc:docMk/>
          <pc:sldMk cId="1149569809" sldId="277"/>
        </pc:sldMkLst>
        <pc:spChg chg="mod">
          <ac:chgData name="Abhishek Soni" userId="3cc3ee7a75fc0c27" providerId="LiveId" clId="{057F00B2-1532-47E0-B83A-4AD1D51904B5}" dt="2026-09-22T09:50:27.082" v="146" actId="1076"/>
          <ac:spMkLst>
            <pc:docMk/>
            <pc:sldMk cId="1149569809" sldId="277"/>
            <ac:spMk id="2" creationId="{0B2A7D27-D659-3E03-D05B-8CBCFEE4C5A0}"/>
          </ac:spMkLst>
        </pc:spChg>
        <pc:spChg chg="mod">
          <ac:chgData name="Abhishek Soni" userId="3cc3ee7a75fc0c27" providerId="LiveId" clId="{057F00B2-1532-47E0-B83A-4AD1D51904B5}" dt="2026-09-22T09:50:38.992" v="149" actId="403"/>
          <ac:spMkLst>
            <pc:docMk/>
            <pc:sldMk cId="1149569809" sldId="277"/>
            <ac:spMk id="3" creationId="{A10F11E0-63B8-0969-3435-4CB9867F34C8}"/>
          </ac:spMkLst>
        </pc:spChg>
        <pc:picChg chg="del">
          <ac:chgData name="Abhishek Soni" userId="3cc3ee7a75fc0c27" providerId="LiveId" clId="{057F00B2-1532-47E0-B83A-4AD1D51904B5}" dt="2026-09-22T10:21:14.879" v="331" actId="478"/>
          <ac:picMkLst>
            <pc:docMk/>
            <pc:sldMk cId="1149569809" sldId="277"/>
            <ac:picMk id="5" creationId="{8A5EFCA2-CDFC-2BAE-A832-5ABF54799EE9}"/>
          </ac:picMkLst>
        </pc:picChg>
        <pc:picChg chg="add mod">
          <ac:chgData name="Abhishek Soni" userId="3cc3ee7a75fc0c27" providerId="LiveId" clId="{057F00B2-1532-47E0-B83A-4AD1D51904B5}" dt="2026-09-22T10:21:32.343" v="337" actId="1076"/>
          <ac:picMkLst>
            <pc:docMk/>
            <pc:sldMk cId="1149569809" sldId="277"/>
            <ac:picMk id="6" creationId="{9781745A-95FC-0036-6D1E-537D100C841D}"/>
          </ac:picMkLst>
        </pc:picChg>
      </pc:sldChg>
      <pc:sldChg chg="addSp delSp modSp mod">
        <pc:chgData name="Abhishek Soni" userId="3cc3ee7a75fc0c27" providerId="LiveId" clId="{057F00B2-1532-47E0-B83A-4AD1D51904B5}" dt="2026-09-22T10:43:10.526" v="449" actId="255"/>
        <pc:sldMkLst>
          <pc:docMk/>
          <pc:sldMk cId="3723796021" sldId="279"/>
        </pc:sldMkLst>
        <pc:spChg chg="mod">
          <ac:chgData name="Abhishek Soni" userId="3cc3ee7a75fc0c27" providerId="LiveId" clId="{057F00B2-1532-47E0-B83A-4AD1D51904B5}" dt="2026-09-22T09:51:00.453" v="153" actId="1076"/>
          <ac:spMkLst>
            <pc:docMk/>
            <pc:sldMk cId="3723796021" sldId="279"/>
            <ac:spMk id="2" creationId="{1B414197-989D-0E41-8146-EEC897658778}"/>
          </ac:spMkLst>
        </pc:spChg>
        <pc:spChg chg="mod">
          <ac:chgData name="Abhishek Soni" userId="3cc3ee7a75fc0c27" providerId="LiveId" clId="{057F00B2-1532-47E0-B83A-4AD1D51904B5}" dt="2026-09-22T10:43:10.526" v="449" actId="255"/>
          <ac:spMkLst>
            <pc:docMk/>
            <pc:sldMk cId="3723796021" sldId="279"/>
            <ac:spMk id="7" creationId="{224BAB3C-27E1-DB3C-33A3-C19BFEC86614}"/>
          </ac:spMkLst>
        </pc:spChg>
        <pc:picChg chg="del">
          <ac:chgData name="Abhishek Soni" userId="3cc3ee7a75fc0c27" providerId="LiveId" clId="{057F00B2-1532-47E0-B83A-4AD1D51904B5}" dt="2026-09-22T10:23:30.451" v="343" actId="478"/>
          <ac:picMkLst>
            <pc:docMk/>
            <pc:sldMk cId="3723796021" sldId="279"/>
            <ac:picMk id="5" creationId="{D7C0B266-7EAF-1C2F-497A-16AB7CFD348E}"/>
          </ac:picMkLst>
        </pc:picChg>
        <pc:picChg chg="add mod">
          <ac:chgData name="Abhishek Soni" userId="3cc3ee7a75fc0c27" providerId="LiveId" clId="{057F00B2-1532-47E0-B83A-4AD1D51904B5}" dt="2026-09-22T10:23:27.883" v="342" actId="14100"/>
          <ac:picMkLst>
            <pc:docMk/>
            <pc:sldMk cId="3723796021" sldId="279"/>
            <ac:picMk id="6" creationId="{CE4A1D87-1975-2E31-4EC0-6123BCD4B83F}"/>
          </ac:picMkLst>
        </pc:picChg>
        <pc:picChg chg="del">
          <ac:chgData name="Abhishek Soni" userId="3cc3ee7a75fc0c27" providerId="LiveId" clId="{057F00B2-1532-47E0-B83A-4AD1D51904B5}" dt="2026-09-22T10:23:20.086" v="338" actId="478"/>
          <ac:picMkLst>
            <pc:docMk/>
            <pc:sldMk cId="3723796021" sldId="279"/>
            <ac:picMk id="9" creationId="{9CCD979E-2E49-9D78-5753-8320F7B1E0AB}"/>
          </ac:picMkLst>
        </pc:picChg>
      </pc:sldChg>
      <pc:sldChg chg="addSp delSp modSp mod">
        <pc:chgData name="Abhishek Soni" userId="3cc3ee7a75fc0c27" providerId="LiveId" clId="{057F00B2-1532-47E0-B83A-4AD1D51904B5}" dt="2026-09-22T10:38:04.946" v="398" actId="1076"/>
        <pc:sldMkLst>
          <pc:docMk/>
          <pc:sldMk cId="1403072322" sldId="280"/>
        </pc:sldMkLst>
        <pc:spChg chg="mod">
          <ac:chgData name="Abhishek Soni" userId="3cc3ee7a75fc0c27" providerId="LiveId" clId="{057F00B2-1532-47E0-B83A-4AD1D51904B5}" dt="2026-09-22T09:51:24.994" v="159" actId="1076"/>
          <ac:spMkLst>
            <pc:docMk/>
            <pc:sldMk cId="1403072322" sldId="280"/>
            <ac:spMk id="2" creationId="{05065400-CB95-B153-8FED-C78370A89395}"/>
          </ac:spMkLst>
        </pc:spChg>
        <pc:spChg chg="del mod">
          <ac:chgData name="Abhishek Soni" userId="3cc3ee7a75fc0c27" providerId="LiveId" clId="{057F00B2-1532-47E0-B83A-4AD1D51904B5}" dt="2026-09-22T10:36:21.288" v="376"/>
          <ac:spMkLst>
            <pc:docMk/>
            <pc:sldMk cId="1403072322" sldId="280"/>
            <ac:spMk id="6" creationId="{0109B649-4221-CCB1-4A5F-9553D93414ED}"/>
          </ac:spMkLst>
        </pc:spChg>
        <pc:spChg chg="add mod">
          <ac:chgData name="Abhishek Soni" userId="3cc3ee7a75fc0c27" providerId="LiveId" clId="{057F00B2-1532-47E0-B83A-4AD1D51904B5}" dt="2026-09-22T10:37:22.021" v="389" actId="1076"/>
          <ac:spMkLst>
            <pc:docMk/>
            <pc:sldMk cId="1403072322" sldId="280"/>
            <ac:spMk id="8" creationId="{4CA03A01-E6F7-280A-323D-47C21BB120A8}"/>
          </ac:spMkLst>
        </pc:spChg>
        <pc:spChg chg="add del">
          <ac:chgData name="Abhishek Soni" userId="3cc3ee7a75fc0c27" providerId="LiveId" clId="{057F00B2-1532-47E0-B83A-4AD1D51904B5}" dt="2026-09-22T10:37:19.251" v="387" actId="22"/>
          <ac:spMkLst>
            <pc:docMk/>
            <pc:sldMk cId="1403072322" sldId="280"/>
            <ac:spMk id="10" creationId="{9B7072BF-4198-30DC-0735-963077F31D20}"/>
          </ac:spMkLst>
        </pc:spChg>
        <pc:spChg chg="add mod">
          <ac:chgData name="Abhishek Soni" userId="3cc3ee7a75fc0c27" providerId="LiveId" clId="{057F00B2-1532-47E0-B83A-4AD1D51904B5}" dt="2026-09-22T10:38:04.946" v="398" actId="1076"/>
          <ac:spMkLst>
            <pc:docMk/>
            <pc:sldMk cId="1403072322" sldId="280"/>
            <ac:spMk id="11" creationId="{0784C9F7-3E5E-18E3-173D-95D1E8F72530}"/>
          </ac:spMkLst>
        </pc:spChg>
        <pc:graphicFrameChg chg="del modGraphic">
          <ac:chgData name="Abhishek Soni" userId="3cc3ee7a75fc0c27" providerId="LiveId" clId="{057F00B2-1532-47E0-B83A-4AD1D51904B5}" dt="2026-09-22T10:27:12.487" v="351" actId="478"/>
          <ac:graphicFrameMkLst>
            <pc:docMk/>
            <pc:sldMk cId="1403072322" sldId="280"/>
            <ac:graphicFrameMk id="4" creationId="{E9010987-D5BB-9185-8EE4-CE68093157F6}"/>
          </ac:graphicFrameMkLst>
        </pc:graphicFrameChg>
        <pc:picChg chg="add mod">
          <ac:chgData name="Abhishek Soni" userId="3cc3ee7a75fc0c27" providerId="LiveId" clId="{057F00B2-1532-47E0-B83A-4AD1D51904B5}" dt="2026-09-22T10:37:18.839" v="386" actId="1076"/>
          <ac:picMkLst>
            <pc:docMk/>
            <pc:sldMk cId="1403072322" sldId="280"/>
            <ac:picMk id="7" creationId="{63DFDC1D-9807-661F-BD67-C1917B0126F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83725" y="883951"/>
            <a:ext cx="8920549" cy="1000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9189" y="2622724"/>
            <a:ext cx="9465310" cy="6378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71600" y="2247900"/>
            <a:ext cx="15868650" cy="2984790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dirty="0" err="1"/>
              <a:t>MedTrust</a:t>
            </a:r>
            <a:r>
              <a:rPr lang="en-IN" dirty="0"/>
              <a:t>: A Unified Blockchain Framework for Dual-Layer Verification of Prescription Authenticity and Drug Provenance</a:t>
            </a:r>
            <a:endParaRPr lang="en-US" sz="6600" dirty="0"/>
          </a:p>
        </p:txBody>
      </p:sp>
      <p:sp>
        <p:nvSpPr>
          <p:cNvPr id="3" name="object 3"/>
          <p:cNvSpPr txBox="1"/>
          <p:nvPr/>
        </p:nvSpPr>
        <p:spPr>
          <a:xfrm>
            <a:off x="4953000" y="6057900"/>
            <a:ext cx="8114030" cy="3766415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648460" marR="1640839" indent="-635" algn="ctr">
              <a:lnSpc>
                <a:spcPts val="5550"/>
              </a:lnSpc>
              <a:spcBef>
                <a:spcPts val="309"/>
              </a:spcBef>
            </a:pPr>
            <a:r>
              <a:rPr lang="en-IN" sz="4650" spc="150" dirty="0">
                <a:latin typeface="Times New Roman"/>
                <a:cs typeface="Times New Roman"/>
              </a:rPr>
              <a:t>Abhishek Soni</a:t>
            </a:r>
          </a:p>
          <a:p>
            <a:pPr marL="1648460" marR="1640839" indent="-635" algn="ctr">
              <a:lnSpc>
                <a:spcPts val="5550"/>
              </a:lnSpc>
              <a:spcBef>
                <a:spcPts val="309"/>
              </a:spcBef>
            </a:pPr>
            <a:r>
              <a:rPr lang="en-IN" sz="4650" spc="150" dirty="0">
                <a:latin typeface="Times New Roman"/>
                <a:cs typeface="Times New Roman"/>
              </a:rPr>
              <a:t>Arin V Jain</a:t>
            </a:r>
          </a:p>
          <a:p>
            <a:pPr marL="1648460" marR="1640839" indent="-635" algn="ctr">
              <a:lnSpc>
                <a:spcPts val="5550"/>
              </a:lnSpc>
              <a:spcBef>
                <a:spcPts val="309"/>
              </a:spcBef>
            </a:pPr>
            <a:r>
              <a:rPr lang="en-IN" sz="4650" spc="150" dirty="0">
                <a:latin typeface="Times New Roman"/>
                <a:cs typeface="Times New Roman"/>
              </a:rPr>
              <a:t>Neelansh </a:t>
            </a:r>
            <a:r>
              <a:rPr lang="en-IN" sz="4650" spc="150" dirty="0" err="1">
                <a:latin typeface="Times New Roman"/>
                <a:cs typeface="Times New Roman"/>
              </a:rPr>
              <a:t>Dosi</a:t>
            </a:r>
            <a:endParaRPr lang="en-IN" sz="4650" spc="160" dirty="0">
              <a:latin typeface="Times New Roman"/>
              <a:cs typeface="Times New Roman"/>
            </a:endParaRPr>
          </a:p>
          <a:p>
            <a:pPr marL="1648460" marR="1640839" indent="-635" algn="ctr">
              <a:lnSpc>
                <a:spcPts val="5550"/>
              </a:lnSpc>
              <a:spcBef>
                <a:spcPts val="309"/>
              </a:spcBef>
            </a:pPr>
            <a:endParaRPr sz="46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4800" b="1" dirty="0">
                <a:solidFill>
                  <a:srgbClr val="FF0000"/>
                </a:solidFill>
                <a:latin typeface="Calibri"/>
                <a:cs typeface="Calibri"/>
              </a:rPr>
              <a:t>SVKM’s</a:t>
            </a:r>
            <a:r>
              <a:rPr sz="4800" b="1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800" b="1" dirty="0">
                <a:solidFill>
                  <a:srgbClr val="FF0000"/>
                </a:solidFill>
                <a:latin typeface="Calibri"/>
                <a:cs typeface="Calibri"/>
              </a:rPr>
              <a:t>NMIMS,</a:t>
            </a:r>
            <a:r>
              <a:rPr sz="4800" b="1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800" b="1" dirty="0">
                <a:solidFill>
                  <a:srgbClr val="FF0000"/>
                </a:solidFill>
                <a:latin typeface="Calibri"/>
                <a:cs typeface="Calibri"/>
              </a:rPr>
              <a:t>Indore</a:t>
            </a:r>
            <a:r>
              <a:rPr sz="4800" b="1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800" b="1" spc="-10" dirty="0">
                <a:solidFill>
                  <a:srgbClr val="FF0000"/>
                </a:solidFill>
                <a:latin typeface="Calibri"/>
                <a:cs typeface="Calibri"/>
              </a:rPr>
              <a:t>Campus</a:t>
            </a:r>
            <a:endParaRPr sz="4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191000" y="883880"/>
            <a:ext cx="8920549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0615">
              <a:lnSpc>
                <a:spcPct val="100000"/>
              </a:lnSpc>
              <a:spcBef>
                <a:spcPts val="100"/>
              </a:spcBef>
            </a:pPr>
            <a:r>
              <a:rPr lang="en-IN" spc="-180" dirty="0"/>
              <a:t>Problem Statement</a:t>
            </a:r>
            <a:endParaRPr spc="-18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8B627-D088-5969-70D6-7C012D4A4B11}"/>
              </a:ext>
            </a:extLst>
          </p:cNvPr>
          <p:cNvSpPr txBox="1"/>
          <p:nvPr/>
        </p:nvSpPr>
        <p:spPr>
          <a:xfrm>
            <a:off x="342900" y="2171700"/>
            <a:ext cx="17602200" cy="7940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3000" b="1" dirty="0"/>
              <a:t>The Core Gap:</a:t>
            </a:r>
            <a:br>
              <a:rPr lang="en-IN" sz="3000" dirty="0"/>
            </a:br>
            <a:r>
              <a:rPr lang="en-IN" sz="3000" dirty="0"/>
              <a:t>Healthcare validates digital medical orders and physical drug packages in isolated silos, with zero cross-verification at the retail pharmacy counter.</a:t>
            </a:r>
          </a:p>
          <a:p>
            <a:pPr lvl="0"/>
            <a:r>
              <a:rPr lang="en-IN" sz="3000" b="1" dirty="0"/>
              <a:t>Prescription Silo:</a:t>
            </a:r>
            <a:br>
              <a:rPr lang="en-IN" sz="3000" dirty="0"/>
            </a:br>
            <a:r>
              <a:rPr lang="en-IN" sz="3000" dirty="0"/>
              <a:t>Authenticates physician identity at consultation, but has zero visibility into the physical medicine handed to the patient.</a:t>
            </a:r>
          </a:p>
          <a:p>
            <a:pPr lvl="0"/>
            <a:r>
              <a:rPr lang="en-IN" sz="3000" b="1" dirty="0"/>
              <a:t>Supply Chain Silo:</a:t>
            </a:r>
            <a:br>
              <a:rPr lang="en-IN" sz="3000" dirty="0"/>
            </a:br>
            <a:r>
              <a:rPr lang="en-IN" sz="3000" dirty="0"/>
              <a:t>Tracks batch logistics between manufacturers and distributors, but cannot verify if the customer holds a valid, active prescription.</a:t>
            </a:r>
          </a:p>
          <a:p>
            <a:pPr lvl="0"/>
            <a:r>
              <a:rPr lang="en-IN" sz="3000" b="1" dirty="0"/>
              <a:t>The Resulting Fraud:</a:t>
            </a:r>
            <a:endParaRPr lang="en-IN" sz="3000" dirty="0"/>
          </a:p>
          <a:p>
            <a:pPr lvl="1"/>
            <a:r>
              <a:rPr lang="en-IN" sz="3000" b="1" dirty="0"/>
              <a:t>Prescription Replay &amp; Diversion:</a:t>
            </a:r>
            <a:r>
              <a:rPr lang="en-IN" sz="3000" dirty="0"/>
              <a:t> Forged or duplicated orders draw genuine drugs (</a:t>
            </a:r>
            <a:r>
              <a:rPr lang="en-IN" sz="3000" dirty="0" err="1"/>
              <a:t>fueling</a:t>
            </a:r>
            <a:r>
              <a:rPr lang="en-IN" sz="3000" dirty="0"/>
              <a:t> opioid abuse and doctor-shopping).</a:t>
            </a:r>
          </a:p>
          <a:p>
            <a:pPr lvl="1"/>
            <a:r>
              <a:rPr lang="en-IN" sz="3000" b="1" dirty="0"/>
              <a:t>Counterfeit Infiltration:</a:t>
            </a:r>
            <a:r>
              <a:rPr lang="en-IN" sz="3000" dirty="0"/>
              <a:t> Legitimate prescriptions are fulfilled with fake, expired, or CDSCO-recalled batches.</a:t>
            </a:r>
          </a:p>
          <a:p>
            <a:pPr lvl="0"/>
            <a:r>
              <a:rPr lang="en-IN" sz="3000" b="1" dirty="0"/>
              <a:t>Our Solution:</a:t>
            </a:r>
            <a:br>
              <a:rPr lang="en-IN" sz="3000" dirty="0"/>
            </a:br>
            <a:r>
              <a:rPr lang="en-IN" sz="3000" dirty="0"/>
              <a:t>An </a:t>
            </a:r>
            <a:r>
              <a:rPr lang="en-IN" sz="3000" b="1" dirty="0"/>
              <a:t>Atomic Gateway Contract</a:t>
            </a:r>
            <a:r>
              <a:rPr lang="en-IN" sz="3000" dirty="0"/>
              <a:t> on Hyperledger Fabric that executes synchronous dual-layer verification before dispensing, while ensuring zero patient PII on-chain.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E5071-BB55-03D1-D878-9962BFAB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1104900"/>
            <a:ext cx="14401800" cy="984885"/>
          </a:xfrm>
        </p:spPr>
        <p:txBody>
          <a:bodyPr/>
          <a:lstStyle/>
          <a:p>
            <a:r>
              <a:rPr lang="en-IN" dirty="0"/>
              <a:t>Literature Review &amp; Gap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3ABBAF-F04A-F70C-2FF3-E14F54BCA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189" y="2622724"/>
            <a:ext cx="9465310" cy="461665"/>
          </a:xfrm>
        </p:spPr>
        <p:txBody>
          <a:bodyPr/>
          <a:lstStyle/>
          <a:p>
            <a:r>
              <a:rPr lang="en-IN" dirty="0"/>
              <a:t>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4DC26E-637F-DE2B-20BB-E74C32A105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43100"/>
            <a:ext cx="17602200" cy="775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589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330692" y="800100"/>
            <a:ext cx="1828800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8560" algn="ctr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System Architecture</a:t>
            </a:r>
            <a:endParaRPr spc="-65" dirty="0"/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6B8AAB4C-B5B5-4EE5-A31C-B9E270E698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131430"/>
              </p:ext>
            </p:extLst>
          </p:nvPr>
        </p:nvGraphicFramePr>
        <p:xfrm>
          <a:off x="-762000" y="9563100"/>
          <a:ext cx="416560" cy="579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5292545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2051416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sz="3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81156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819EAA-79A3-FF27-FBA3-1C996030FD7E}"/>
                  </a:ext>
                </a:extLst>
              </p:cNvPr>
              <p:cNvSpPr txBox="1"/>
              <p:nvPr/>
            </p:nvSpPr>
            <p:spPr>
              <a:xfrm>
                <a:off x="457200" y="3077761"/>
                <a:ext cx="8991600" cy="537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IN" sz="2800" b="1" dirty="0"/>
                  <a:t>Consortium Roles (6 Tiers):</a:t>
                </a:r>
                <a:r>
                  <a:rPr lang="en-IN" sz="2800" dirty="0"/>
                  <a:t> Doctor, Patient, Manufacturer, Distributor, Pharmacist, and CDSCO (Regulator).</a:t>
                </a:r>
              </a:p>
              <a:p>
                <a:pPr lvl="0"/>
                <a:r>
                  <a:rPr lang="en-IN" sz="2800" b="1" dirty="0"/>
                  <a:t>Module 1 (Prescription Layer):</a:t>
                </a:r>
                <a:r>
                  <a:rPr lang="en-IN" sz="2800" dirty="0"/>
                  <a:t> Verifies doctor ECDSA signature and enforces Active </a:t>
                </a:r>
                <a14:m>
                  <m:oMath xmlns:m="http://schemas.openxmlformats.org/officeDocument/2006/math">
                    <m:r>
                      <a:rPr lang="en-IN" sz="36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2800" dirty="0"/>
                  <a:t> Fulfilled lifecycle.</a:t>
                </a:r>
              </a:p>
              <a:p>
                <a:pPr lvl="0"/>
                <a:r>
                  <a:rPr lang="en-IN" sz="2800" b="1" dirty="0"/>
                  <a:t>Module 2 (Drug Provenance Layer):</a:t>
                </a:r>
                <a:r>
                  <a:rPr lang="en-IN" sz="2800" dirty="0"/>
                  <a:t> Verifies serial batch genesis, retail custody, and active recalls.</a:t>
                </a:r>
              </a:p>
              <a:p>
                <a:pPr lvl="0"/>
                <a:r>
                  <a:rPr lang="en-IN" sz="2800" b="1" dirty="0"/>
                  <a:t>Atomic Gateway:</a:t>
                </a:r>
                <a:r>
                  <a:rPr lang="en-IN" sz="2800" dirty="0"/>
                  <a:t> Evaluates both modules concurrently inside a single atomic transaction.</a:t>
                </a:r>
              </a:p>
              <a:p>
                <a:pPr lvl="0"/>
                <a:r>
                  <a:rPr lang="en-IN" sz="2800" b="1" dirty="0"/>
                  <a:t>Privacy Model:</a:t>
                </a:r>
                <a:r>
                  <a:rPr lang="en-IN" sz="2800" dirty="0"/>
                  <a:t> Hashes on-chain (CouchDB); sensitive clinical data off-chain (MongoDB).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819EAA-79A3-FF27-FBA3-1C996030F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077761"/>
                <a:ext cx="8991600" cy="5373330"/>
              </a:xfrm>
              <a:prstGeom prst="rect">
                <a:avLst/>
              </a:prstGeom>
              <a:blipFill>
                <a:blip r:embed="rId2"/>
                <a:stretch>
                  <a:fillRect l="-1356" t="-1249" r="-1559" b="-22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4A870069-B4FF-698E-6D9B-DA5CB7EE5B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1797809"/>
            <a:ext cx="9062609" cy="76890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5DF94-784A-C206-31EC-929D6D3D6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800" y="1106611"/>
            <a:ext cx="16499875" cy="923330"/>
          </a:xfrm>
        </p:spPr>
        <p:txBody>
          <a:bodyPr/>
          <a:lstStyle/>
          <a:p>
            <a:r>
              <a:rPr lang="en-IN" sz="6000" b="0" dirty="0"/>
              <a:t>How Does the Model Work? (Verification Flow)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BB231A2-1217-2C75-DAE2-4B612D3EFBB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04800" y="3423955"/>
                <a:ext cx="9465310" cy="4493538"/>
              </a:xfrm>
            </p:spPr>
            <p:txBody>
              <a:bodyPr/>
              <a:lstStyle/>
              <a:p>
                <a:pPr marL="742950" lvl="0" indent="-742950">
                  <a:buAutoNum type="arabicPeriod"/>
                </a:pPr>
                <a:r>
                  <a:rPr lang="en-IN" sz="3600" dirty="0"/>
                  <a:t>Prescribe:</a:t>
                </a:r>
                <a:r>
                  <a:rPr lang="en-IN" sz="3600" b="0" dirty="0"/>
                  <a:t> Doctor signs salted hash: 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3200" b="0" i="0"/>
                      <m:t>SHA256</m:t>
                    </m:r>
                  </m:oMath>
                </a14:m>
                <a:r>
                  <a:rPr lang="en-IN" sz="3600" b="0" dirty="0"/>
                  <a:t> </a:t>
                </a:r>
              </a:p>
              <a:p>
                <a:pPr lvl="0"/>
                <a:r>
                  <a:rPr lang="en-IN" sz="3600" b="0" dirty="0"/>
                  <a:t>( Patient || Doctor || Drug || Salt)</a:t>
                </a:r>
              </a:p>
              <a:p>
                <a:pPr lvl="0"/>
                <a:r>
                  <a:rPr lang="en-IN" sz="3600" dirty="0"/>
                  <a:t>2. Track:</a:t>
                </a:r>
                <a:r>
                  <a:rPr lang="en-IN" sz="3600" b="0" dirty="0"/>
                  <a:t> Manufacturer mints batch; logistics hubs sign custody handoffs.</a:t>
                </a:r>
              </a:p>
              <a:p>
                <a:pPr lvl="0"/>
                <a:r>
                  <a:rPr lang="en-IN" sz="3600" dirty="0"/>
                  <a:t>3. Dual-Scan:</a:t>
                </a:r>
                <a:r>
                  <a:rPr lang="en-IN" sz="3600" b="0" dirty="0"/>
                  <a:t> Pharmacist scans Patient QR + Drug Barcode simultaneously at POS.</a:t>
                </a:r>
              </a:p>
              <a:p>
                <a:pPr lvl="0"/>
                <a:r>
                  <a:rPr lang="en-IN" sz="3600" dirty="0"/>
                  <a:t>4. Atomic Evaluation:</a:t>
                </a:r>
                <a:endParaRPr lang="en-IN" sz="3600" b="0" dirty="0"/>
              </a:p>
              <a:p>
                <a:pPr lvl="1"/>
                <a:r>
                  <a:rPr lang="en-IN" sz="2000" b="1" dirty="0"/>
                  <a:t>Pass:</a:t>
                </a:r>
                <a:r>
                  <a:rPr lang="en-IN" sz="2000" dirty="0"/>
                  <a:t> Prescription </a:t>
                </a:r>
                <a14:m>
                  <m:oMath xmlns:m="http://schemas.openxmlformats.org/officeDocument/2006/math">
                    <m:r>
                      <a:rPr lang="en-IN" sz="20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2000" dirty="0"/>
                  <a:t> Fulfilled, Drug </a:t>
                </a:r>
                <a14:m>
                  <m:oMath xmlns:m="http://schemas.openxmlformats.org/officeDocument/2006/math">
                    <m:r>
                      <a:rPr lang="en-IN" sz="20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2000" dirty="0"/>
                  <a:t> Dispensed (Green authorization).</a:t>
                </a:r>
              </a:p>
              <a:p>
                <a:pPr lvl="1"/>
                <a:r>
                  <a:rPr lang="en-IN" sz="2000" b="1" dirty="0"/>
                  <a:t>Fail:</a:t>
                </a:r>
                <a:r>
                  <a:rPr lang="en-IN" sz="2000" dirty="0"/>
                  <a:t> Immediate rollback; zero state change; breach alert sent to regulator (Red block).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BB231A2-1217-2C75-DAE2-4B612D3EFB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3423955"/>
                <a:ext cx="9465310" cy="4493538"/>
              </a:xfrm>
              <a:blipFill>
                <a:blip r:embed="rId2"/>
                <a:stretch>
                  <a:fillRect l="-2898" t="-3256" r="-3928" b="-24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7BD0E43-2FC2-853F-DB42-93A37CE1F5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0795" y="2068041"/>
            <a:ext cx="8382842" cy="711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119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A3CF5-B573-5252-B117-39CCA014E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3852" y="882015"/>
            <a:ext cx="11775475" cy="1969770"/>
          </a:xfrm>
        </p:spPr>
        <p:txBody>
          <a:bodyPr/>
          <a:lstStyle/>
          <a:p>
            <a:r>
              <a:rPr lang="en-IN" dirty="0"/>
              <a:t>Datasets &amp; Experimental 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E22C0-D6A1-87B4-DB8A-05E6C5575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189" y="2622724"/>
            <a:ext cx="9465310" cy="461665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4F930F-05F0-8C3C-992C-2B358B574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7921" y="2019300"/>
            <a:ext cx="8592453" cy="768069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8094A97-2A02-AEA3-B77F-B334DBA84DEF}"/>
              </a:ext>
            </a:extLst>
          </p:cNvPr>
          <p:cNvSpPr txBox="1"/>
          <p:nvPr/>
        </p:nvSpPr>
        <p:spPr>
          <a:xfrm>
            <a:off x="207626" y="2030361"/>
            <a:ext cx="9280295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3000" b="1" dirty="0"/>
              <a:t>8 Therapeutic Workloads:</a:t>
            </a:r>
            <a:r>
              <a:rPr lang="en-IN" sz="3000" dirty="0"/>
              <a:t> Synthesized 5,230 dispensing cycles across Anti-Infectives, Opioids, Cardiovascular, Antidiabetics, Oncology, Respiratory, GI, and Neuro-Psychiatric drugs.</a:t>
            </a:r>
          </a:p>
          <a:p>
            <a:pPr lvl="0"/>
            <a:r>
              <a:rPr lang="en-IN" sz="3000" b="1" dirty="0"/>
              <a:t>Realistic Adversarial Threat Ratios:</a:t>
            </a:r>
            <a:r>
              <a:rPr lang="en-IN" sz="3000" dirty="0"/>
              <a:t> Attack attempts range from 21.5% to 54.3% per category (1,720 total adversarial cycles).</a:t>
            </a:r>
          </a:p>
          <a:p>
            <a:pPr lvl="0"/>
            <a:r>
              <a:rPr lang="en-IN" sz="3000" b="1" dirty="0"/>
              <a:t>6 Simulated Threat Vectors:</a:t>
            </a:r>
            <a:endParaRPr lang="en-IN" sz="3000" dirty="0"/>
          </a:p>
          <a:p>
            <a:pPr lvl="1"/>
            <a:r>
              <a:rPr lang="en-IN" sz="3000" dirty="0"/>
              <a:t>Clean legitimate dispenses (3,510 authorized)</a:t>
            </a:r>
          </a:p>
          <a:p>
            <a:pPr lvl="1"/>
            <a:r>
              <a:rPr lang="en-IN" sz="3000" dirty="0"/>
              <a:t>Replay &amp; double-spend fraud (460 attacks)</a:t>
            </a:r>
          </a:p>
          <a:p>
            <a:pPr lvl="1"/>
            <a:r>
              <a:rPr lang="en-IN" sz="3000" dirty="0"/>
              <a:t>Counterfeit / bogus drug lot barcodes (380 attacks)</a:t>
            </a:r>
          </a:p>
          <a:p>
            <a:pPr lvl="1"/>
            <a:r>
              <a:rPr lang="en-IN" sz="3000" dirty="0"/>
              <a:t>Broken supply-chain physical custody (430 attacks)</a:t>
            </a:r>
          </a:p>
          <a:p>
            <a:pPr lvl="1"/>
            <a:r>
              <a:rPr lang="en-IN" sz="3000" dirty="0"/>
              <a:t>CDSCO regulatory drug recalls (240 attacks)</a:t>
            </a:r>
          </a:p>
          <a:p>
            <a:pPr lvl="1"/>
            <a:r>
              <a:rPr lang="en-IN" sz="3000" dirty="0"/>
              <a:t>Expired prescription orders (210 attacks)</a:t>
            </a:r>
          </a:p>
          <a:p>
            <a:pPr lvl="0"/>
            <a:r>
              <a:rPr lang="en-IN" sz="3000" b="1" dirty="0"/>
              <a:t>High-Throughput Concurrency Testing:</a:t>
            </a:r>
            <a:r>
              <a:rPr lang="en-IN" sz="3000" dirty="0"/>
              <a:t> Workload generator simulates 10 to 500 simultaneous pharmacy terminals.</a:t>
            </a:r>
          </a:p>
          <a:p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1329334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908F7-3E9A-3365-CCAD-1259AD8CF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6262" y="876300"/>
            <a:ext cx="11775475" cy="984885"/>
          </a:xfrm>
        </p:spPr>
        <p:txBody>
          <a:bodyPr/>
          <a:lstStyle/>
          <a:p>
            <a:pPr algn="ctr"/>
            <a:r>
              <a:rPr lang="en-IN" dirty="0"/>
              <a:t>Overall Results &amp; Comparison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E0679-1E33-8AF1-1D10-647EA44E1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189" y="2622724"/>
            <a:ext cx="9465310" cy="461665"/>
          </a:xfrm>
        </p:spPr>
        <p:txBody>
          <a:bodyPr/>
          <a:lstStyle/>
          <a:p>
            <a:r>
              <a:rPr lang="en-IN" dirty="0"/>
              <a:t>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71B3BE-20A1-E935-4385-4B1BC2CDC0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2171700"/>
            <a:ext cx="8704150" cy="75435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78E4E85-0833-4B3C-E535-1DD16133B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6765" y="2373304"/>
            <a:ext cx="9601067" cy="734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581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51D1-3E52-96A3-16E7-785E92CB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691054"/>
            <a:ext cx="13214736" cy="1969770"/>
          </a:xfrm>
        </p:spPr>
        <p:txBody>
          <a:bodyPr/>
          <a:lstStyle/>
          <a:p>
            <a:r>
              <a:rPr lang="en-IN" dirty="0"/>
              <a:t>Latency Breakdown &amp; Micro-Benchmarks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910DA5C-1FCE-1F4D-A441-1B24B7B05AF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800" y="3055207"/>
                <a:ext cx="8136890" cy="4500335"/>
              </a:xfrm>
            </p:spPr>
            <p:txBody>
              <a:bodyPr/>
              <a:lstStyle/>
              <a:p>
                <a:pPr lvl="0"/>
                <a:r>
                  <a:rPr lang="en-IN" sz="2800" dirty="0"/>
                  <a:t>World State Query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800" b="0" i="0"/>
                          <m:t>query</m:t>
                        </m:r>
                      </m:sub>
                    </m:sSub>
                  </m:oMath>
                </a14:m>
                <a:r>
                  <a:rPr lang="en-IN" sz="2800" dirty="0"/>
                  <a:t>):</a:t>
                </a:r>
                <a:r>
                  <a:rPr lang="en-IN" sz="2800" b="0" dirty="0"/>
                  <a:t> </a:t>
                </a:r>
                <a:r>
                  <a:rPr lang="en-IN" sz="2800" dirty="0"/>
                  <a:t>0.43 </a:t>
                </a:r>
                <a:r>
                  <a:rPr lang="en-IN" sz="2800" dirty="0" err="1"/>
                  <a:t>ms</a:t>
                </a:r>
                <a:r>
                  <a:rPr lang="en-IN" sz="2800" b="0" dirty="0"/>
                  <a:t> (parallel CouchDB document lookups).</a:t>
                </a:r>
              </a:p>
              <a:p>
                <a:pPr lvl="0"/>
                <a:r>
                  <a:rPr lang="en-IN" sz="2800" dirty="0"/>
                  <a:t>Cryptographic Engine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800" b="0" i="0"/>
                          <m:t>crypto</m:t>
                        </m:r>
                      </m:sub>
                    </m:sSub>
                  </m:oMath>
                </a14:m>
                <a:r>
                  <a:rPr lang="en-IN" sz="2800" dirty="0"/>
                  <a:t>):</a:t>
                </a:r>
                <a:r>
                  <a:rPr lang="en-IN" sz="2800" b="0" dirty="0"/>
                  <a:t> </a:t>
                </a:r>
                <a:r>
                  <a:rPr lang="en-IN" sz="2800" dirty="0"/>
                  <a:t>1.19 </a:t>
                </a:r>
                <a:r>
                  <a:rPr lang="en-IN" sz="2800" dirty="0" err="1"/>
                  <a:t>ms</a:t>
                </a:r>
                <a:r>
                  <a:rPr lang="en-IN" sz="2800" b="0" dirty="0"/>
                  <a:t> (ECDSA 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800" b="0" i="0"/>
                      <m:t>secp256r1</m:t>
                    </m:r>
                  </m:oMath>
                </a14:m>
                <a:r>
                  <a:rPr lang="en-IN" sz="2800" b="0" dirty="0"/>
                  <a:t> signature verification + salted SHA-256).</a:t>
                </a:r>
              </a:p>
              <a:p>
                <a:pPr lvl="0"/>
                <a:r>
                  <a:rPr lang="en-IN" sz="2800" dirty="0"/>
                  <a:t>Dual-Layer Policy Check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800" b="0" i="0"/>
                          <m:t>eval</m:t>
                        </m:r>
                      </m:sub>
                    </m:sSub>
                  </m:oMath>
                </a14:m>
                <a:r>
                  <a:rPr lang="en-IN" sz="2800" dirty="0"/>
                  <a:t>):</a:t>
                </a:r>
                <a:r>
                  <a:rPr lang="en-IN" sz="2800" b="0" dirty="0"/>
                  <a:t> </a:t>
                </a:r>
                <a:r>
                  <a:rPr lang="en-IN" sz="2800" dirty="0"/>
                  <a:t>0.18 </a:t>
                </a:r>
                <a:r>
                  <a:rPr lang="en-IN" sz="2800" dirty="0" err="1"/>
                  <a:t>ms</a:t>
                </a:r>
                <a:r>
                  <a:rPr lang="en-IN" sz="2800" b="0" dirty="0"/>
                  <a:t> (in-memory logic).</a:t>
                </a:r>
              </a:p>
              <a:p>
                <a:pPr lvl="0"/>
                <a:r>
                  <a:rPr lang="en-IN" sz="2800" dirty="0"/>
                  <a:t>Atomic State Commit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800" b="0" i="0"/>
                          <m:t>commit</m:t>
                        </m:r>
                      </m:sub>
                    </m:sSub>
                  </m:oMath>
                </a14:m>
                <a:r>
                  <a:rPr lang="en-IN" sz="2800" dirty="0"/>
                  <a:t>):</a:t>
                </a:r>
                <a:r>
                  <a:rPr lang="en-IN" sz="2800" b="0" dirty="0"/>
                  <a:t> </a:t>
                </a:r>
                <a:r>
                  <a:rPr lang="en-IN" sz="2800" dirty="0"/>
                  <a:t>0.66 </a:t>
                </a:r>
                <a:r>
                  <a:rPr lang="en-IN" sz="2800" dirty="0" err="1"/>
                  <a:t>ms</a:t>
                </a:r>
                <a:r>
                  <a:rPr lang="en-IN" sz="2800" b="0" dirty="0"/>
                  <a:t> (block appending &amp; state write).</a:t>
                </a:r>
              </a:p>
              <a:p>
                <a:pPr lvl="0"/>
                <a:r>
                  <a:rPr lang="en-IN" sz="2800" dirty="0"/>
                  <a:t>Total Latency:</a:t>
                </a:r>
                <a:r>
                  <a:rPr lang="en-IN" sz="2800" b="0" dirty="0"/>
                  <a:t> </a:t>
                </a:r>
                <a:r>
                  <a:rPr lang="en-IN" sz="2800" dirty="0"/>
                  <a:t>2.44 </a:t>
                </a:r>
                <a:r>
                  <a:rPr lang="en-IN" sz="2800" dirty="0" err="1"/>
                  <a:t>ms</a:t>
                </a:r>
                <a:r>
                  <a:rPr lang="en-IN" sz="2800" dirty="0"/>
                  <a:t> average</a:t>
                </a:r>
                <a:r>
                  <a:rPr lang="en-IN" sz="2800" b="0" dirty="0"/>
                  <a:t> (well below the 100 </a:t>
                </a:r>
                <a:r>
                  <a:rPr lang="en-IN" sz="2800" b="0" dirty="0" err="1"/>
                  <a:t>ms</a:t>
                </a:r>
                <a:r>
                  <a:rPr lang="en-IN" sz="2800" b="0" dirty="0"/>
                  <a:t> human perception threshold).</a:t>
                </a:r>
              </a:p>
              <a:p>
                <a:pPr lvl="0"/>
                <a:r>
                  <a:rPr lang="en-IN" sz="2800" dirty="0"/>
                  <a:t>Impact:</a:t>
                </a:r>
                <a:r>
                  <a:rPr lang="en-IN" sz="2800" b="0" dirty="0"/>
                  <a:t> Zero cashier checkout delay at busy pharmacy counters.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910DA5C-1FCE-1F4D-A441-1B24B7B05A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800" y="3055207"/>
                <a:ext cx="8136890" cy="4500335"/>
              </a:xfrm>
              <a:blipFill>
                <a:blip r:embed="rId2"/>
                <a:stretch>
                  <a:fillRect l="-2699" t="-2439" r="-2624" b="-323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D3C4938-7F33-1EEC-140F-89948A4FD1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690" y="1943100"/>
            <a:ext cx="9236710" cy="802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842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14197-989D-0E41-8146-EEC897658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917427"/>
            <a:ext cx="13756675" cy="984885"/>
          </a:xfrm>
        </p:spPr>
        <p:txBody>
          <a:bodyPr/>
          <a:lstStyle/>
          <a:p>
            <a:r>
              <a:rPr lang="en-IN" dirty="0"/>
              <a:t>Security Boundary &amp; Attack Resilience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6899C-8531-A17B-EE75-F1F96959D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189" y="2622724"/>
            <a:ext cx="9465310" cy="461665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4BAB3C-27E1-DB3C-33A3-C19BFEC86614}"/>
              </a:ext>
            </a:extLst>
          </p:cNvPr>
          <p:cNvSpPr txBox="1"/>
          <p:nvPr/>
        </p:nvSpPr>
        <p:spPr>
          <a:xfrm>
            <a:off x="444050" y="2400300"/>
            <a:ext cx="9624212" cy="754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200" b="1" dirty="0"/>
              <a:t>Evaluation Scope (1,720 Adversarial Attacks):</a:t>
            </a:r>
            <a:br>
              <a:rPr lang="en-IN" sz="2200" dirty="0"/>
            </a:br>
            <a:r>
              <a:rPr lang="en-IN" sz="2200" dirty="0"/>
              <a:t>Tested across 5,230 simulated cycles covering 6 real-world dispensing threat vectors.</a:t>
            </a:r>
          </a:p>
          <a:p>
            <a:pPr lvl="0"/>
            <a:r>
              <a:rPr lang="en-IN" sz="2200" b="1" dirty="0"/>
              <a:t>Deterministic Threat Interception (100% Block Rate):</a:t>
            </a:r>
            <a:endParaRPr lang="en-IN" sz="2200" dirty="0"/>
          </a:p>
          <a:p>
            <a:pPr lvl="1"/>
            <a:r>
              <a:rPr lang="en-IN" sz="2200" b="1" dirty="0"/>
              <a:t>Replay &amp; Double-Spend (460/460 blocked):</a:t>
            </a:r>
            <a:r>
              <a:rPr lang="en-IN" sz="2200" dirty="0"/>
              <a:t> State machine locks filled prescriptions, stopping doctor-shopping.</a:t>
            </a:r>
          </a:p>
          <a:p>
            <a:pPr lvl="1"/>
            <a:r>
              <a:rPr lang="en-IN" sz="2200" b="1" dirty="0"/>
              <a:t>Counterfeit Batches (380/380 blocked):</a:t>
            </a:r>
            <a:r>
              <a:rPr lang="en-IN" sz="2200" dirty="0"/>
              <a:t> Unregistered box barcodes fail genesis authentication.</a:t>
            </a:r>
          </a:p>
          <a:p>
            <a:pPr lvl="1"/>
            <a:r>
              <a:rPr lang="en-IN" sz="2200" b="1" dirty="0"/>
              <a:t>Broken Custody Chain (430/430 blocked):</a:t>
            </a:r>
            <a:r>
              <a:rPr lang="en-IN" sz="2200" dirty="0"/>
              <a:t> Stolen or diverted stock rejected at counter.</a:t>
            </a:r>
          </a:p>
          <a:p>
            <a:pPr lvl="1"/>
            <a:r>
              <a:rPr lang="en-IN" sz="2200" b="1" dirty="0"/>
              <a:t>CDSCO Recalls (240/240 blocked):</a:t>
            </a:r>
            <a:r>
              <a:rPr lang="en-IN" sz="2200" dirty="0"/>
              <a:t> Flagged contaminated lots blocked nationwide in real time.</a:t>
            </a:r>
          </a:p>
          <a:p>
            <a:pPr lvl="1"/>
            <a:r>
              <a:rPr lang="en-IN" sz="2200" b="1" dirty="0"/>
              <a:t>Expired Orders (210/210 blocked):</a:t>
            </a:r>
            <a:r>
              <a:rPr lang="en-IN" sz="2200" dirty="0"/>
              <a:t> Outdated clinical treatment windows halted.</a:t>
            </a:r>
          </a:p>
          <a:p>
            <a:pPr lvl="0"/>
            <a:r>
              <a:rPr lang="en-IN" sz="2200" b="1" dirty="0"/>
              <a:t>Graph (a) &amp; (b) — Boundary Performance:</a:t>
            </a:r>
            <a:endParaRPr lang="en-IN" sz="2200" dirty="0"/>
          </a:p>
          <a:p>
            <a:pPr lvl="1"/>
            <a:r>
              <a:rPr lang="en-IN" sz="2200" b="1" dirty="0"/>
              <a:t>Ideal Frontiers:</a:t>
            </a:r>
            <a:r>
              <a:rPr lang="en-IN" sz="2200" dirty="0"/>
              <a:t> Achieves </a:t>
            </a:r>
            <a:r>
              <a:rPr lang="en-IN" sz="2200" b="1" dirty="0"/>
              <a:t>AUC = 1.000</a:t>
            </a:r>
            <a:r>
              <a:rPr lang="en-IN" sz="2200" dirty="0"/>
              <a:t> (ROC) and </a:t>
            </a:r>
            <a:r>
              <a:rPr lang="en-IN" sz="2200" b="1" dirty="0"/>
              <a:t>AP = 1.000</a:t>
            </a:r>
            <a:r>
              <a:rPr lang="en-IN" sz="2200" dirty="0"/>
              <a:t> (Precision-Recall), outperforming heuristic filters (AUC = 0.884).</a:t>
            </a:r>
          </a:p>
          <a:p>
            <a:pPr lvl="1"/>
            <a:r>
              <a:rPr lang="en-IN" sz="2200" b="1" dirty="0"/>
              <a:t>Zero False Positives (0.00% FPR):</a:t>
            </a:r>
            <a:r>
              <a:rPr lang="en-IN" sz="2200" dirty="0"/>
              <a:t> Valid patients presenting genuine prescriptions are never falsely rejected.</a:t>
            </a:r>
          </a:p>
          <a:p>
            <a:pPr lvl="1"/>
            <a:r>
              <a:rPr lang="en-IN" sz="2200" b="1" dirty="0"/>
              <a:t>Instant Alerting:</a:t>
            </a:r>
            <a:r>
              <a:rPr lang="en-IN" sz="2200" dirty="0"/>
              <a:t> Every blocked attack dispatches an automated incident report to the CDSCO monitor.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4A1D87-1975-2E31-4EC0-6123BCD4B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262" y="2126226"/>
            <a:ext cx="8067338" cy="736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796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65400-CB95-B153-8FED-C78370A89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862955"/>
            <a:ext cx="14859000" cy="1969770"/>
          </a:xfrm>
        </p:spPr>
        <p:txBody>
          <a:bodyPr/>
          <a:lstStyle/>
          <a:p>
            <a:r>
              <a:rPr lang="en-IN" dirty="0"/>
              <a:t>Privacy Preservation &amp; DPDP Act (2023)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87259D-C84F-64FC-0104-A26BD0215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189" y="2622724"/>
            <a:ext cx="9465310" cy="461665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DFDC1D-9807-661F-BD67-C1917B012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539" y="1951396"/>
            <a:ext cx="15986922" cy="48196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A03A01-E6F7-280A-323D-47C21BB120A8}"/>
              </a:ext>
            </a:extLst>
          </p:cNvPr>
          <p:cNvSpPr txBox="1"/>
          <p:nvPr/>
        </p:nvSpPr>
        <p:spPr>
          <a:xfrm>
            <a:off x="1295400" y="6764911"/>
            <a:ext cx="75438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IN" sz="2400" b="1" dirty="0"/>
              <a:t>Compact On-Chain Footprint:</a:t>
            </a:r>
            <a:r>
              <a:rPr lang="en-IN" sz="2400" dirty="0"/>
              <a:t> Requires only </a:t>
            </a:r>
            <a:r>
              <a:rPr lang="en-IN" sz="2400" b="1" dirty="0"/>
              <a:t>0.48 KB per transaction</a:t>
            </a:r>
            <a:r>
              <a:rPr lang="en-IN" sz="2400" dirty="0"/>
              <a:t> vs. 12.5 KB for monolithic EHR blockchains.</a:t>
            </a:r>
          </a:p>
          <a:p>
            <a:pPr lvl="1"/>
            <a:r>
              <a:rPr lang="en-IN" sz="2400" b="1" dirty="0"/>
              <a:t>100K Transaction Scaling:</a:t>
            </a:r>
            <a:r>
              <a:rPr lang="en-IN" sz="2400" dirty="0"/>
              <a:t> Consumes just </a:t>
            </a:r>
            <a:r>
              <a:rPr lang="en-IN" sz="2400" b="1" dirty="0"/>
              <a:t>46.8 MB</a:t>
            </a:r>
            <a:r>
              <a:rPr lang="en-IN" sz="2400" dirty="0"/>
              <a:t> (vs. 1,250 MB in standard EHR and 1,780 MB in Ethereum).</a:t>
            </a:r>
          </a:p>
          <a:p>
            <a:pPr lvl="1"/>
            <a:r>
              <a:rPr lang="en-IN" sz="2400" b="1" dirty="0"/>
              <a:t>Edge Deployment:</a:t>
            </a:r>
            <a:r>
              <a:rPr lang="en-IN" sz="2400" dirty="0"/>
              <a:t> Prevents ledger bloat, allowing low-cost pharmacy terminals to run full verification nodes.</a:t>
            </a:r>
          </a:p>
          <a:p>
            <a:br>
              <a:rPr lang="en-IN" sz="2400" dirty="0"/>
            </a:br>
            <a:endParaRPr lang="en-I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784C9F7-3E5E-18E3-173D-95D1E8F72530}"/>
                  </a:ext>
                </a:extLst>
              </p:cNvPr>
              <p:cNvSpPr txBox="1"/>
              <p:nvPr/>
            </p:nvSpPr>
            <p:spPr>
              <a:xfrm>
                <a:off x="10107396" y="6253944"/>
                <a:ext cx="7010400" cy="416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IN" sz="2400" b="1" dirty="0"/>
                  <a:t>Off-Chain Clinical Store (MongoDB):</a:t>
                </a:r>
                <a:r>
                  <a:rPr lang="en-IN" sz="2400" dirty="0"/>
                  <a:t> Houses sensitive PII (names, Aadhaar, diagnoses) and complies with statutory </a:t>
                </a:r>
                <a:r>
                  <a:rPr lang="en-IN" sz="2400" b="1" dirty="0"/>
                  <a:t>Right to Erasure</a:t>
                </a:r>
                <a:r>
                  <a:rPr lang="en-IN" sz="2400" dirty="0"/>
                  <a:t>.</a:t>
                </a:r>
              </a:p>
              <a:p>
                <a:pPr lvl="0"/>
                <a:r>
                  <a:rPr lang="en-IN" sz="2400" b="1" dirty="0"/>
                  <a:t>Zero On-Chain PII (Hyperledger Fabric):</a:t>
                </a:r>
                <a:r>
                  <a:rPr lang="en-IN" sz="2400" dirty="0"/>
                  <a:t> Commits only the 256-bit salted hash, doctor signature, and lifecycle state.</a:t>
                </a:r>
              </a:p>
              <a:p>
                <a:pPr lvl="0"/>
                <a:r>
                  <a:rPr lang="en-IN" sz="2400" b="1" dirty="0"/>
                  <a:t>128-Bit Salt Entropy:</a:t>
                </a:r>
                <a:r>
                  <a:rPr lang="en-IN" sz="2400" dirty="0"/>
                  <a:t> Each prescription incorporates a unique random salt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>
                            <a:latin typeface="Cambria Math" panose="02040503050406030204" pitchFamily="18" charset="0"/>
                          </a:rPr>
                          <m:t>128</m:t>
                        </m:r>
                      </m:sup>
                    </m:sSup>
                  </m:oMath>
                </a14:m>
                <a:r>
                  <a:rPr lang="en-IN" sz="2400" dirty="0"/>
                  <a:t> space), making rainbow-table reversals mathematically impossible.</a:t>
                </a:r>
              </a:p>
              <a:p>
                <a:endParaRPr lang="en-IN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784C9F7-3E5E-18E3-173D-95D1E8F72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7396" y="6253944"/>
                <a:ext cx="7010400" cy="4163319"/>
              </a:xfrm>
              <a:prstGeom prst="rect">
                <a:avLst/>
              </a:prstGeom>
              <a:blipFill>
                <a:blip r:embed="rId3"/>
                <a:stretch>
                  <a:fillRect l="-1304" t="-10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3072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76600" y="919700"/>
            <a:ext cx="14859001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dirty="0"/>
              <a:t>Multi-Dimensional Comparative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069719-2AFE-4CB1-A58D-7D7347A42425}"/>
              </a:ext>
            </a:extLst>
          </p:cNvPr>
          <p:cNvSpPr txBox="1"/>
          <p:nvPr/>
        </p:nvSpPr>
        <p:spPr>
          <a:xfrm>
            <a:off x="381000" y="2315587"/>
            <a:ext cx="17221200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3600" b="1" dirty="0"/>
              <a:t>Vs. Public Ethereum E-Prescription:</a:t>
            </a:r>
            <a:br>
              <a:rPr lang="en-IN" sz="3600" dirty="0"/>
            </a:br>
            <a:r>
              <a:rPr lang="en-IN" sz="3600" dirty="0"/>
              <a:t>Ethereum incurs $2–$24 transaction gas fees, 15-second block delays, and a 15 TPS throughput bottleneck. </a:t>
            </a:r>
            <a:r>
              <a:rPr lang="en-IN" sz="3600" dirty="0" err="1"/>
              <a:t>MedTrust</a:t>
            </a:r>
            <a:r>
              <a:rPr lang="en-IN" sz="3600" dirty="0"/>
              <a:t> is </a:t>
            </a:r>
            <a:r>
              <a:rPr lang="en-IN" sz="3600" b="1" dirty="0"/>
              <a:t>gas-free</a:t>
            </a:r>
            <a:r>
              <a:rPr lang="en-IN" sz="3600" dirty="0"/>
              <a:t>, executes in </a:t>
            </a:r>
            <a:r>
              <a:rPr lang="en-IN" sz="3600" b="1" dirty="0"/>
              <a:t>2.44 </a:t>
            </a:r>
            <a:r>
              <a:rPr lang="en-IN" sz="3600" b="1" dirty="0" err="1"/>
              <a:t>ms</a:t>
            </a:r>
            <a:r>
              <a:rPr lang="en-IN" sz="3600" dirty="0"/>
              <a:t>, and scales to </a:t>
            </a:r>
            <a:r>
              <a:rPr lang="en-IN" sz="3600" b="1" dirty="0"/>
              <a:t>1,690 TPS</a:t>
            </a:r>
            <a:r>
              <a:rPr lang="en-IN" sz="3600" dirty="0"/>
              <a:t>.</a:t>
            </a:r>
          </a:p>
          <a:p>
            <a:pPr lvl="0"/>
            <a:r>
              <a:rPr lang="en-IN" sz="3600" b="1" dirty="0"/>
              <a:t>Vs. </a:t>
            </a:r>
            <a:r>
              <a:rPr lang="en-IN" sz="3600" b="1" dirty="0" err="1"/>
              <a:t>PharmaChain</a:t>
            </a:r>
            <a:r>
              <a:rPr lang="en-IN" sz="3600" b="1" dirty="0"/>
              <a:t> / </a:t>
            </a:r>
            <a:r>
              <a:rPr lang="en-IN" sz="3600" b="1" dirty="0" err="1"/>
              <a:t>HyperChain</a:t>
            </a:r>
            <a:r>
              <a:rPr lang="en-IN" sz="3600" b="1" dirty="0"/>
              <a:t> (Drug Provenance):</a:t>
            </a:r>
            <a:br>
              <a:rPr lang="en-IN" sz="3600" dirty="0"/>
            </a:br>
            <a:r>
              <a:rPr lang="en-IN" sz="3600" dirty="0"/>
              <a:t>Supply-chain platforms track serialized cartons but completely ignore prescription validity—leaving a massive backdoor for forged or replayed prescriptions.</a:t>
            </a:r>
          </a:p>
          <a:p>
            <a:pPr lvl="0"/>
            <a:r>
              <a:rPr lang="en-IN" sz="3600" b="1" dirty="0"/>
              <a:t>Vs. Centralized State PDMPs (Traditional SQL):</a:t>
            </a:r>
            <a:br>
              <a:rPr lang="en-IN" sz="3600" dirty="0"/>
            </a:br>
            <a:r>
              <a:rPr lang="en-IN" sz="3600" dirty="0"/>
              <a:t>Centralized databases present single-point-of-failure risks, insider tampering vulnerabilities, and store unencrypted patient PII on centralized servers.</a:t>
            </a:r>
          </a:p>
          <a:p>
            <a:pPr lvl="0"/>
            <a:r>
              <a:rPr lang="en-IN" sz="3600" b="1" dirty="0"/>
              <a:t>The </a:t>
            </a:r>
            <a:r>
              <a:rPr lang="en-IN" sz="3600" b="1" dirty="0" err="1"/>
              <a:t>MedTrust</a:t>
            </a:r>
            <a:r>
              <a:rPr lang="en-IN" sz="3600" b="1" dirty="0"/>
              <a:t> Advantage (Unified Conjunction):</a:t>
            </a:r>
            <a:br>
              <a:rPr lang="en-IN" sz="3600" dirty="0"/>
            </a:br>
            <a:r>
              <a:rPr lang="en-IN" sz="3600" dirty="0"/>
              <a:t>The </a:t>
            </a:r>
            <a:r>
              <a:rPr lang="en-IN" sz="3600" b="1" dirty="0"/>
              <a:t>only</a:t>
            </a:r>
            <a:r>
              <a:rPr lang="en-IN" sz="3600" dirty="0"/>
              <a:t> framework providing synchronous dual-layer verification, sub-3ms cashier latency, zero transaction costs, and full DPDP Act 2023 privacy compliance.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76800" y="800100"/>
            <a:ext cx="9867583" cy="2967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dirty="0"/>
              <a:t>Conclusion &amp; Future Work</a:t>
            </a:r>
            <a:br>
              <a:rPr lang="en-IN" dirty="0"/>
            </a:br>
            <a:br>
              <a:rPr lang="en-IN" dirty="0"/>
            </a:br>
            <a:endParaRPr spc="-13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534475-6BFF-09E0-85BB-D812BD2C7FDB}"/>
                  </a:ext>
                </a:extLst>
              </p:cNvPr>
              <p:cNvSpPr txBox="1"/>
              <p:nvPr/>
            </p:nvSpPr>
            <p:spPr>
              <a:xfrm>
                <a:off x="2095499" y="2781300"/>
                <a:ext cx="14097000" cy="64940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IN" sz="3200" b="1" dirty="0"/>
                  <a:t>Completed Deliverables:</a:t>
                </a:r>
                <a:endParaRPr lang="en-IN" sz="3200" dirty="0"/>
              </a:p>
              <a:p>
                <a:pPr lvl="1"/>
                <a:r>
                  <a:rPr lang="en-IN" sz="3200" dirty="0"/>
                  <a:t>Implemented 3 Go </a:t>
                </a:r>
                <a:r>
                  <a:rPr lang="en-IN" sz="3200" dirty="0" err="1"/>
                  <a:t>chaincodes</a:t>
                </a:r>
                <a:r>
                  <a:rPr lang="en-IN" sz="3200" dirty="0"/>
                  <a:t> (</a:t>
                </a:r>
                <a:r>
                  <a:rPr lang="en-IN" sz="3200" dirty="0" err="1"/>
                  <a:t>prescription_layer</a:t>
                </a:r>
                <a:r>
                  <a:rPr lang="en-IN" sz="3200" dirty="0"/>
                  <a:t>, </a:t>
                </a:r>
                <a:r>
                  <a:rPr lang="en-IN" sz="3200" dirty="0" err="1"/>
                  <a:t>drug_provenance_layer</a:t>
                </a:r>
                <a:r>
                  <a:rPr lang="en-IN" sz="3200" dirty="0"/>
                  <a:t>, </a:t>
                </a:r>
                <a:r>
                  <a:rPr lang="en-IN" sz="3200" dirty="0" err="1"/>
                  <a:t>gateway_contract</a:t>
                </a:r>
                <a:r>
                  <a:rPr lang="en-IN" sz="3200" dirty="0"/>
                  <a:t>).</a:t>
                </a:r>
              </a:p>
              <a:p>
                <a:pPr lvl="1"/>
                <a:r>
                  <a:rPr lang="en-IN" sz="3200" dirty="0"/>
                  <a:t>Built real cryptographic engine (ECDSA 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3200" b="0" i="0"/>
                      <m:t>secp256r1</m:t>
                    </m:r>
                  </m:oMath>
                </a14:m>
                <a:r>
                  <a:rPr lang="en-IN" sz="3200" dirty="0"/>
                  <a:t> + salted SHA-256).</a:t>
                </a:r>
              </a:p>
              <a:p>
                <a:pPr lvl="1"/>
                <a:r>
                  <a:rPr lang="en-IN" sz="3200" dirty="0"/>
                  <a:t>Built Node.js gateway and full React 18 multi-portal frontend.</a:t>
                </a:r>
              </a:p>
              <a:p>
                <a:pPr lvl="1"/>
                <a:r>
                  <a:rPr lang="en-IN" sz="3200" dirty="0"/>
                  <a:t>Verified 100% accuracy, 2.44 </a:t>
                </a:r>
                <a:r>
                  <a:rPr lang="en-IN" sz="3200" dirty="0" err="1"/>
                  <a:t>ms</a:t>
                </a:r>
                <a:r>
                  <a:rPr lang="en-IN" sz="3200" dirty="0"/>
                  <a:t> latency, and 1,690 TPS across 5,230 cycles.</a:t>
                </a:r>
              </a:p>
              <a:p>
                <a:pPr lvl="0"/>
                <a:r>
                  <a:rPr lang="en-IN" sz="3200" b="1" dirty="0"/>
                  <a:t>Future Roadmap:</a:t>
                </a:r>
                <a:endParaRPr lang="en-IN" sz="3200" dirty="0"/>
              </a:p>
              <a:p>
                <a:pPr lvl="1"/>
                <a:r>
                  <a:rPr lang="en-IN" sz="3200" dirty="0"/>
                  <a:t>Deploy compiled </a:t>
                </a:r>
                <a:r>
                  <a:rPr lang="en-IN" sz="3200" dirty="0" err="1"/>
                  <a:t>chaincodes</a:t>
                </a:r>
                <a:r>
                  <a:rPr lang="en-IN" sz="3200" dirty="0"/>
                  <a:t> to live multi-host </a:t>
                </a:r>
                <a:r>
                  <a:rPr lang="en-IN" sz="3200" dirty="0" err="1"/>
                  <a:t>testnet</a:t>
                </a:r>
                <a:r>
                  <a:rPr lang="en-IN" sz="3200" dirty="0"/>
                  <a:t> via @hyperledger/fabric-gateway SDK.</a:t>
                </a:r>
              </a:p>
              <a:p>
                <a:pPr lvl="1"/>
                <a:r>
                  <a:rPr lang="en-IN" sz="3200" dirty="0"/>
                  <a:t>Direct integration with handheld Bluetooth 2D barcode and RFID scanners.</a:t>
                </a:r>
              </a:p>
              <a:p>
                <a:pPr lvl="1"/>
                <a:r>
                  <a:rPr lang="en-IN" sz="3200" dirty="0"/>
                  <a:t>Interoperability with Ayushman Bharat Digital Mission (ABDM) national health IDs.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534475-6BFF-09E0-85BB-D812BD2C7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499" y="2781300"/>
                <a:ext cx="14097000" cy="6494085"/>
              </a:xfrm>
              <a:prstGeom prst="rect">
                <a:avLst/>
              </a:prstGeom>
              <a:blipFill>
                <a:blip r:embed="rId2"/>
                <a:stretch>
                  <a:fillRect l="-1125" t="-1220" r="-1600" b="-20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770A0D-62F5-6D56-3D6B-C2FB669AC9DE}"/>
              </a:ext>
            </a:extLst>
          </p:cNvPr>
          <p:cNvSpPr txBox="1"/>
          <p:nvPr/>
        </p:nvSpPr>
        <p:spPr>
          <a:xfrm>
            <a:off x="6400800" y="800100"/>
            <a:ext cx="571663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0" b="1" dirty="0"/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A99491-411F-E5A4-7F96-C8F0E4A7AE34}"/>
              </a:ext>
            </a:extLst>
          </p:cNvPr>
          <p:cNvSpPr txBox="1"/>
          <p:nvPr/>
        </p:nvSpPr>
        <p:spPr>
          <a:xfrm>
            <a:off x="457200" y="3620006"/>
            <a:ext cx="1694245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 sz="3200" b="1" dirty="0"/>
              <a:t>[1]</a:t>
            </a:r>
            <a:r>
              <a:rPr lang="en-IN" sz="3200" dirty="0"/>
              <a:t> S. Pancari et al., "Ethereum vs. Hyperledger Fabric Comparison," </a:t>
            </a:r>
            <a:r>
              <a:rPr lang="en-IN" sz="3200" i="1" dirty="0"/>
              <a:t>Sensors</a:t>
            </a:r>
            <a:r>
              <a:rPr lang="en-IN" sz="3200" dirty="0"/>
              <a:t>, 2023.</a:t>
            </a:r>
          </a:p>
          <a:p>
            <a:pPr lvl="0"/>
            <a:r>
              <a:rPr lang="en-IN" sz="3200" b="1" dirty="0"/>
              <a:t>[2]</a:t>
            </a:r>
            <a:r>
              <a:rPr lang="en-IN" sz="3200" dirty="0"/>
              <a:t> A. </a:t>
            </a:r>
            <a:r>
              <a:rPr lang="en-IN" sz="3200" dirty="0" err="1"/>
              <a:t>Musamih</a:t>
            </a:r>
            <a:r>
              <a:rPr lang="en-IN" sz="3200" dirty="0"/>
              <a:t> et al., "Blockchain Drug Traceability," </a:t>
            </a:r>
            <a:r>
              <a:rPr lang="en-IN" sz="3200" i="1" dirty="0"/>
              <a:t>IEEE Access</a:t>
            </a:r>
            <a:r>
              <a:rPr lang="en-IN" sz="3200" dirty="0"/>
              <a:t>, 2021.</a:t>
            </a:r>
          </a:p>
          <a:p>
            <a:pPr lvl="0"/>
            <a:r>
              <a:rPr lang="en-IN" sz="3200" b="1" dirty="0"/>
              <a:t>[3]</a:t>
            </a:r>
            <a:r>
              <a:rPr lang="en-IN" sz="3200" dirty="0"/>
              <a:t> CEUR Workshop Proceedings, "E-Prescription Traceability," Vol. 3616, 2024.</a:t>
            </a:r>
          </a:p>
          <a:p>
            <a:pPr lvl="0"/>
            <a:r>
              <a:rPr lang="en-IN" sz="3200" b="1" dirty="0"/>
              <a:t>[4]</a:t>
            </a:r>
            <a:r>
              <a:rPr lang="en-IN" sz="3200" dirty="0"/>
              <a:t> N. Zakari et al., "Blockchain in Pharmaceutical Industry," </a:t>
            </a:r>
            <a:r>
              <a:rPr lang="en-IN" sz="3200" i="1" dirty="0" err="1"/>
              <a:t>PeerJ</a:t>
            </a:r>
            <a:r>
              <a:rPr lang="en-IN" sz="3200" i="1" dirty="0"/>
              <a:t> Computer Science</a:t>
            </a:r>
            <a:r>
              <a:rPr lang="en-IN" sz="3200" dirty="0"/>
              <a:t>, 2022.</a:t>
            </a:r>
          </a:p>
          <a:p>
            <a:pPr lvl="0"/>
            <a:r>
              <a:rPr lang="en-IN" sz="3200" b="1" dirty="0"/>
              <a:t>[5]</a:t>
            </a:r>
            <a:r>
              <a:rPr lang="en-IN" sz="3200" dirty="0"/>
              <a:t> Ministry of Law and Justice, "Digital Personal Data Protection Act, 2023," Govt. of India.</a:t>
            </a:r>
          </a:p>
          <a:p>
            <a:endParaRPr lang="en-IN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386</TotalTime>
  <Words>1228</Words>
  <Application>Microsoft Office PowerPoint</Application>
  <PresentationFormat>Custom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Times New Roman</vt:lpstr>
      <vt:lpstr>Office Theme</vt:lpstr>
      <vt:lpstr>MedTrust: A Unified Blockchain Framework for Dual-Layer Verification of Prescription Authenticity and Drug Provenance</vt:lpstr>
      <vt:lpstr>Problem Statement</vt:lpstr>
      <vt:lpstr>Literature Review &amp; Gap Analysis</vt:lpstr>
      <vt:lpstr>System Architecture</vt:lpstr>
      <vt:lpstr>How Does the Model Work? (Verification Flow)</vt:lpstr>
      <vt:lpstr>Datasets &amp; Experimental Setup</vt:lpstr>
      <vt:lpstr>Overall Results &amp; Comparison</vt:lpstr>
      <vt:lpstr>Latency Breakdown &amp; Micro-Benchmarks</vt:lpstr>
      <vt:lpstr>Security Boundary &amp; Attack Resilience</vt:lpstr>
      <vt:lpstr>Privacy Preservation &amp; DPDP Act (2023)</vt:lpstr>
      <vt:lpstr>Multi-Dimensional Comparative Analysis</vt:lpstr>
      <vt:lpstr>Conclusion &amp; Future Work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NMIMS_Capstone_Project .pptx</dc:title>
  <dc:creator>Gitisha Soni</dc:creator>
  <cp:keywords>DAHAV-aa3P0,BAEiAwBQFmA,0</cp:keywords>
  <cp:lastModifiedBy>Abhishek Soni</cp:lastModifiedBy>
  <cp:revision>13</cp:revision>
  <dcterms:created xsi:type="dcterms:W3CDTF">2026-07-15T09:20:25Z</dcterms:created>
  <dcterms:modified xsi:type="dcterms:W3CDTF">2026-09-22T11:30:36Z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2026-02-05T00:00:00Z</vt:filetime>
  </property>
  <property fmtid="{D5CDD505-2E9C-101B-9397-08002B2CF9AE}" pid="4" name="Creator">
    <vt:lpwstr>Canva</vt:lpwstr>
  </property>
  <property fmtid="{D5CDD505-2E9C-101B-9397-08002B2CF9AE}" pid="5" name="LastSaved">
    <vt:filetime>2026-07-15T00:00:00Z</vt:filetime>
  </property>
  <property fmtid="{D5CDD505-2E9C-101B-9397-08002B2CF9AE}" pid="6" name="Producer">
    <vt:lpwstr>Canva</vt:lpwstr>
  </property>
  <property fmtid="{D5CDD505-2E9C-101B-9397-08002B2CF9AE}" pid="7" name="containsAiGeneratedContent">
    <vt:lpwstr>Yes</vt:lpwstr>
  </property>
</Properties>
</file>